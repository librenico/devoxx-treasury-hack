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y Belfius" id="{d74da981-a1f1-2971-01ab-926fb4e8392b}">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 name="AI for security" id="{a10d9e33-db15-7107-edcb-8454f9949686}">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Wrap-up" id="{a706301d-a6b9-578f-62f1-4348a3f1ef68}">
          <p14:sldIdLst>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is not publicly traded, but the estimated market valuation already tells a story.
In April 2026, Anthropic announced the 5th generation of Claude models, named Mythos.
Anthropic’s internal benchmarks suggested the model is exceptionally good at finding and exploiting vulnerabilities, so they have not released it to the general public and instead founded Project Glasswing.
Under Project Glasswing, some of the biggest tech suppliers in the world (mostly American) were given early access to Mythos to patch their own software before the model becomes publicly available.
Access to Claude Mythos is still restricted to this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AISI (UK AI Security Institute) is one of the only European institutions that was given access to Mythos under Glasswing, and they have published their own report on its performance.
The entire report is very interesting to read, but some key takeaways are:
- AISI tests LLMs by giving them access to a lab environment that contains known exploits. A full network takeover takes a total of 32 steps that need to be chained.
- Mythos is the first model to ever complete the entire chain.
- In the meantime, GPT-5.5 Cyber (which is not as restricted) has demonstrated very similar capabilities.
- No model of the generation before Mythos came anywhere near completing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displaying the number of reported vulnerabilities per month in commercial and open-source software.
The graph goes back to 1988, so part of the increase is just natural growth, but if we zoom in on the last year there’s a very noticeable trend change around the time of Mythos’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point where the threat of Mythos (and frontier AI in general) stopped being just a security problem: it also became a development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dependencies up to date is becoming more and more important.
Vendors publish updates more frequently, and the updates they publish contain more fixes.
Luckily, solutions like Dependabot exist, so adopt them if you aren’t doing so already.
HOWEVER, the supply chain is also being targeted, so just blindly upgrading to the latest stable version is also risky.
For example: there have been multiple cases of popular npm packages being backdoored or having crypto stealers added.
There’s a middle ground to find between keeping everything up to date and waiting for potential backdoors etc. to be discovered.
Vulnerabilities in proprietary code also need to be addressed.
The challenge depends on the size of the code base you’re working with.
In large, complex code bases, fixing 1 bug may introduce 2 new bugs.
Hundreds of millions of lines of code probably contain thousands of vulnerabilities which a Mythos-grade model could potentially find and chain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idea of the partnership is:
- We have a hardware appliance in our datacenter containing a set of high-end GPUs.
- The hardware is running an abliterated version of an open-source model (which means it no longer refuses instructions).
- Aikido is doing R&amp;D into new models and their performance as new and better open-source models are released.
- Aikido is also providing support and maintenance as we discover struggles and problems.
- This entire project is an R&amp;D effort: we are learning and adapting the solution constantly as we go along. It is by no means a finished product that is expected to work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go into detail on the results.
The model is used to run white-box security assessments by ingesting the source code, looking for vulnerabilities, and then spinning up agents that actively interact with the application to exploit and chain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rules of thumb for responsibly using AI for software development, which I’m sure you’re all following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have a much easier time processing and reasoning about code that’s part of their training data.
We have learned through our partnership with Aikido that the performance of the models drops significantly when they’re interacting with proprietary code they have never seen before.
If the code is not well structured, or in the case of legacy code, it’s almost impossible for an AI to make sense of it.
Special attention point: be careful with web search. You may have a contract with OpenAI or Anthropic that guarantees they won’t use your data for training purposes, but a search engine like Google does not make such promises.
Conclusion: only use enterprise-licensed versions of AI models. If you run out of tokens, don’t switch to your personal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Admittedly, insecure patterns are not that big of a problem anymore with the latest models. The code they write doesn’t usually contain vulnerable patterns anymore, but you still shouldn’t blindly trust the AI not to make these mistakes.
What AI still isn’t very good at, though, is writing code with no logical gaps. For example, the AI might conveniently forget to plug into the authentication framework, or generate code that uses a completely different framework from the already existing code.
What’s worse, code scanners aren’t that good at detecting these flaws. So more than ever it’s up to the developer to catch them.
There’s an interesting attack vector that targets AI hallucination, called “slopsquatting”: a bad actor registers package names that AIs like to hallucinate and puts malware in them. The moment a developer copy-pastes and runs the code with such a hallucinated dependency, their device gets infected. The solution is to not pull packages directly from the internet, but only from an internal source that offers only “trustworthy”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AI is to speed up the easy work that doesn’t require your thinking, not to design the architecture of the application for you.
The bigger the PR, the less likely it’s properly reviewed and the less likely anyone understands what’s actually in there.
A code base that’s mostly generated by AI is extremely hard to troubleshoot if and when something goes wrong, because the dev responsible for maintaining it probably doesn’t know or understand the code base well enough.
If you ask the AI to generate something and you have no clue in advance what the result is going to look like, ask yourself: “am I still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these attacks work?
What protections can we use?
- External guardrails (both for input AND output)
- Canary in the system prompt
- LLM-as-a-judge
Defense in depth: no single protection will block everything, so the only solution is to add extra layers. Each layer makes it harder to find a working jailbreak, but no number of layers can guarantee it’s impossible.
Human handover: the risk of having to explain yourself to a human also discourages attackers from trying weird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ARK_SUB-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FEATURE-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mine/opt/mark.png">    </p:cNvPr>
          <p:cNvPicPr>
            <a:picLocks noChangeAspect="1"/>
          </p:cNvPicPr>
          <p:nvPr/>
        </p:nvPicPr>
        <p:blipFill>
          <a:blip r:embed="rId1"/>
          <a:stretch>
            <a:fillRect/>
          </a:stretch>
        </p:blipFill>
        <p:spPr>
          <a:xfrm>
            <a:off x="5404104" y="4178808"/>
            <a:ext cx="1380744" cy="1380744"/>
          </a:xfrm>
          <a:prstGeom prst="rect">
            <a:avLst/>
          </a:prstGeom>
        </p:spPr>
      </p:pic>
      <p:sp>
        <p:nvSpPr>
          <p:cNvPr id="3" name="Text 0"/>
          <p:cNvSpPr/>
          <p:nvPr>
            <p:ph idx="101" type="title" hasCustomPrompt="1"/>
          </p:nvPr>
        </p:nvSpPr>
        <p:spPr>
          <a:xfrm>
            <a:off x="914400" y="1417320"/>
            <a:ext cx="10362895" cy="1371600"/>
          </a:xfrm>
          <a:prstGeom prst="rect">
            <a:avLst/>
          </a:prstGeom>
          <a:noFill/>
          <a:ln/>
        </p:spPr>
        <p:txBody>
          <a:bodyPr wrap="square" rtlCol="0"/>
          <a:lstStyle>
            <a:lvl1pPr algn="ctr" indent="0" marL="0">
              <a:buNone/>
              <a:defRPr lang="en-US" sz="6600" dirty="0">
                <a:solidFill>
                  <a:schemeClr val="bg1"/>
                </a:solidFill>
              </a:defRPr>
            </a:lvl1pPr>
          </a:lstStyle>
          <a:p>
            <a:pPr algn="ctr" indent="0" marL="0">
              <a:buNone/>
            </a:pPr>
            <a:endParaRPr lang="en-US" sz="6600" dirty="0"/>
          </a:p>
        </p:txBody>
      </p:sp>
      <p:sp>
        <p:nvSpPr>
          <p:cNvPr id="4" name="Text 0"/>
          <p:cNvSpPr/>
          <p:nvPr>
            <p:ph idx="102" type="body" hasCustomPrompt="1"/>
          </p:nvPr>
        </p:nvSpPr>
        <p:spPr>
          <a:xfrm>
            <a:off x="914400" y="2880360"/>
            <a:ext cx="10362895" cy="731520"/>
          </a:xfrm>
          <a:prstGeom prst="rect">
            <a:avLst/>
          </a:prstGeom>
          <a:noFill/>
          <a:ln/>
        </p:spPr>
        <p:txBody>
          <a:bodyPr wrap="square" rtlCol="0"/>
          <a:lstStyle>
            <a:lvl1pPr algn="ctr" indent="0" marL="0">
              <a:buNone/>
              <a:defRPr lang="en-US" sz="2600" dirty="0">
                <a:solidFill>
                  <a:schemeClr val="bg1"/>
                </a:solidFill>
              </a:defRPr>
            </a:lvl1pPr>
          </a:lstStyle>
          <a:p>
            <a:pPr algn="ct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3840480"/>
          </a:xfrm>
          <a:prstGeom prst="rect">
            <a:avLst/>
          </a:prstGeom>
          <a:noFill/>
          <a:ln/>
        </p:spPr>
        <p:txBody>
          <a:bodyPr wrap="square" rtlCol="0"/>
          <a:lstStyle>
            <a:lvl1pPr algn="l" indent="0" marL="0">
              <a:buNone/>
              <a:defRPr lang="en-US" sz="5200" dirty="0">
                <a:solidFill>
                  <a:schemeClr val="bg1"/>
                </a:solidFill>
              </a:defRPr>
            </a:lvl1pPr>
          </a:lstStyle>
          <a:p>
            <a:pPr algn="l" indent="0" marL="0">
              <a:buNone/>
            </a:pP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SUB">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607040" cy="3291840"/>
          </a:xfrm>
          <a:prstGeom prst="rect">
            <a:avLst/>
          </a:prstGeom>
          <a:noFill/>
          <a:ln/>
        </p:spPr>
        <p:txBody>
          <a:bodyPr wrap="square" rtlCol="0"/>
          <a:lstStyle>
            <a:lvl1pPr algn="l" indent="0" marL="0">
              <a:buNone/>
              <a:defRPr lang="en-US" sz="5200"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822960" y="4663440"/>
            <a:ext cx="10607040" cy="82296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rtlCol="0"/>
          <a:lstStyle>
            <a:lvl1pPr algn="l" indent="0" marL="0">
              <a:buNone/>
              <a:defRPr lang="en-US" sz="5200" dirty="0">
                <a:solidFill>
                  <a:schemeClr val="accent1"/>
                </a:solidFill>
              </a:defRPr>
            </a:lvl1pPr>
          </a:lstStyle>
          <a:p>
            <a:pPr algn="l" indent="0" marL="0">
              <a:buNone/>
            </a:pP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EA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846320" y="1051560"/>
            <a:ext cx="6766560" cy="685800"/>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85216"/>
            <a:ext cx="310896" cy="68580"/>
          </a:xfrm>
          <a:prstGeom prst="rect">
            <a:avLst/>
          </a:prstGeom>
          <a:solidFill>
            <a:srgbClr val="DC0078"/>
          </a:solidFill>
          <a:ln/>
        </p:spPr>
      </p:sp>
      <p:sp>
        <p:nvSpPr>
          <p:cNvPr id="3" name="Shape 1"/>
          <p:cNvSpPr/>
          <p:nvPr/>
        </p:nvSpPr>
        <p:spPr>
          <a:xfrm>
            <a:off x="502920" y="713232"/>
            <a:ext cx="310896" cy="68580"/>
          </a:xfrm>
          <a:prstGeom prst="rect">
            <a:avLst/>
          </a:prstGeom>
          <a:solidFill>
            <a:srgbClr val="DC0078"/>
          </a:solidFill>
          <a:ln/>
        </p:spPr>
      </p:sp>
      <p:sp>
        <p:nvSpPr>
          <p:cNvPr id="4" name="Text 2"/>
          <p:cNvSpPr/>
          <p:nvPr>
            <p:ph idx="102" type="title" hasCustomPrompt="1"/>
          </p:nvPr>
        </p:nvSpPr>
        <p:spPr>
          <a:xfrm>
            <a:off x="1097280" y="365760"/>
            <a:ext cx="106070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_SUB">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85216"/>
            <a:ext cx="310896" cy="68580"/>
          </a:xfrm>
          <a:prstGeom prst="rect">
            <a:avLst/>
          </a:prstGeom>
          <a:solidFill>
            <a:srgbClr val="DC0078"/>
          </a:solidFill>
          <a:ln/>
        </p:spPr>
      </p:sp>
      <p:sp>
        <p:nvSpPr>
          <p:cNvPr id="3" name="Shape 1"/>
          <p:cNvSpPr/>
          <p:nvPr/>
        </p:nvSpPr>
        <p:spPr>
          <a:xfrm>
            <a:off x="502920" y="713232"/>
            <a:ext cx="310896" cy="68580"/>
          </a:xfrm>
          <a:prstGeom prst="rect">
            <a:avLst/>
          </a:prstGeom>
          <a:solidFill>
            <a:srgbClr val="DC0078"/>
          </a:solidFill>
          <a:ln/>
        </p:spPr>
      </p:sp>
      <p:sp>
        <p:nvSpPr>
          <p:cNvPr id="4" name="Text 2"/>
          <p:cNvSpPr/>
          <p:nvPr>
            <p:ph idx="102" type="title" hasCustomPrompt="1"/>
          </p:nvPr>
        </p:nvSpPr>
        <p:spPr>
          <a:xfrm>
            <a:off x="1097280" y="365760"/>
            <a:ext cx="10607040" cy="6858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5" name="Text 2"/>
          <p:cNvSpPr/>
          <p:nvPr>
            <p:ph idx="103" type="body" hasCustomPrompt="1"/>
          </p:nvPr>
        </p:nvSpPr>
        <p:spPr>
          <a:xfrm>
            <a:off x="1097280" y="1024128"/>
            <a:ext cx="10607040" cy="4572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7.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8.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8.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8.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8.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8.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8.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8.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8.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8.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png"/><Relationship Id="rId5" Type="http://schemas.openxmlformats.org/officeDocument/2006/relationships/image" Target="../media/image-27-5.jpg"/><Relationship Id="rId6" Type="http://schemas.openxmlformats.org/officeDocument/2006/relationships/image" Target="../media/image-27-6.jpg"/><Relationship Id="rId7" Type="http://schemas.openxmlformats.org/officeDocument/2006/relationships/image" Target="../media/image-27-7.jpg"/><Relationship Id="rId8" Type="http://schemas.openxmlformats.org/officeDocument/2006/relationships/slideLayout" Target="../slideLayouts/slideLayout8.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8.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8.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8.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8.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8.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914400" y="1417320"/>
            <a:ext cx="10362895" cy="1371600"/>
          </a:xfrm>
          <a:prstGeom prst="rect">
            <a:avLst/>
          </a:prstGeom>
          <a:noFill/>
          <a:ln/>
        </p:spPr>
        <p:txBody>
          <a:bodyPr wrap="square" lIns="0" tIns="0" rIns="0" bIns="0" rtlCol="0" anchor="b"/>
          <a:lstStyle/>
          <a:p>
            <a:pPr algn="ctr" indent="0" marL="0">
              <a:buNone/>
            </a:pPr>
            <a:r>
              <a:rPr lang="en-US" sz="6600" dirty="0">
                <a:solidFill>
                  <a:schemeClr val="bg1"/>
                </a:solidFill>
              </a:rPr>
              <a:t>Hey Belfius</a:t>
            </a:r>
            <a:endParaRPr lang="en-US" sz="6600" dirty="0"/>
          </a:p>
        </p:txBody>
      </p:sp>
      <p:sp>
        <p:nvSpPr>
          <p:cNvPr id="3" name="Text 0"/>
          <p:cNvSpPr/>
          <p:nvPr>
            <p:ph idx="102" type="body" hasCustomPrompt="1"/>
          </p:nvPr>
        </p:nvSpPr>
        <p:spPr>
          <a:xfrm>
            <a:off x="914400" y="2880360"/>
            <a:ext cx="10362895" cy="731520"/>
          </a:xfrm>
          <a:prstGeom prst="rect">
            <a:avLst/>
          </a:prstGeom>
          <a:noFill/>
          <a:ln/>
        </p:spPr>
        <p:txBody>
          <a:bodyPr wrap="square" lIns="0" tIns="0" rIns="0" bIns="0" rtlCol="0" anchor="t"/>
          <a:lstStyle/>
          <a:p>
            <a:pPr algn="ctr" indent="0" marL="0">
              <a:buNone/>
            </a:pPr>
            <a:r>
              <a:rPr lang="en-US" sz="2600" dirty="0">
                <a:solidFill>
                  <a:schemeClr val="bg1"/>
                </a:solidFill>
              </a:rPr>
              <a:t>Architecture, trust and security of an AI assistant</a:t>
            </a:r>
            <a:endParaRPr lang="en-US" sz="2600" dirty="0"/>
          </a:p>
        </p:txBody>
      </p:sp>
      <p:sp>
        <p:nvSpPr>
          <p:cNvPr id="4" name="Text 2"/>
          <p:cNvSpPr txBox="1"/>
          <p:nvPr/>
        </p:nvSpPr>
        <p:spPr>
          <a:xfrm>
            <a:off x="914400" y="5897880"/>
            <a:ext cx="10362895" cy="365760"/>
          </a:xfrm>
          <a:prstGeom prst="rect">
            <a:avLst/>
          </a:prstGeom>
          <a:noFill/>
          <a:ln/>
        </p:spPr>
        <p:txBody>
          <a:bodyPr wrap="square" lIns="0" tIns="0" rIns="0" bIns="0" rtlCol="0" anchor="t"/>
          <a:lstStyle/>
          <a:p>
            <a:pPr algn="ctr" indent="0" marL="0">
              <a:buNone/>
            </a:pPr>
            <a:r>
              <a:rPr lang="en-US" sz="1600" dirty="0">
                <a:solidFill>
                  <a:schemeClr val="bg1"/>
                </a:solidFill>
              </a:rPr>
              <a:t>Devoxx · 8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3840480"/>
          </a:xfrm>
          <a:prstGeom prst="rect">
            <a:avLst/>
          </a:prstGeom>
          <a:noFill/>
          <a:ln/>
        </p:spPr>
        <p:txBody>
          <a:bodyPr wrap="square" lIns="0" tIns="0" rIns="0" bIns="0" rtlCol="0" anchor="ctr"/>
          <a:lstStyle/>
          <a:p>
            <a:pPr algn="l" indent="0" marL="0">
              <a:buNone/>
            </a:pPr>
            <a:r>
              <a:rPr lang="en-US" sz="5200" dirty="0">
                <a:solidFill>
                  <a:schemeClr val="bg1"/>
                </a:solidFill>
              </a:rPr>
              <a:t>It all starts with a conversation</a:t>
            </a:r>
            <a:endParaRPr lang="en-US" sz="5200" dirty="0"/>
          </a:p>
        </p:txBody>
      </p:sp>
      <p:sp>
        <p:nvSpPr>
          <p:cNvPr id="3" name="Text 1"/>
          <p:cNvSpPr txBox="1"/>
          <p:nvPr/>
        </p:nvSpPr>
        <p:spPr>
          <a:xfrm>
            <a:off x="822960" y="640080"/>
            <a:ext cx="7315200" cy="365760"/>
          </a:xfrm>
          <a:prstGeom prst="rect">
            <a:avLst/>
          </a:prstGeom>
          <a:noFill/>
          <a:ln/>
        </p:spPr>
        <p:txBody>
          <a:bodyPr wrap="square" lIns="0" tIns="0" rIns="0" bIns="0" rtlCol="0" anchor="t"/>
          <a:lstStyle/>
          <a:p>
            <a:pPr algn="l" indent="0" marL="0">
              <a:buNone/>
            </a:pPr>
            <a:r>
              <a:rPr lang="en-US" sz="1400" spc="300" kern="0" dirty="0">
                <a:solidFill>
                  <a:schemeClr val="bg1"/>
                </a:solidFill>
                <a:latin typeface="+mj-lt" pitchFamily="34" charset="0"/>
                <a:ea typeface="+mj-lt" pitchFamily="34" charset="-122"/>
                <a:cs typeface="+mj-lt" pitchFamily="34" charset="-120"/>
              </a:rPr>
              <a:t>PART 1 · HEY BELFIUS</a:t>
            </a:r>
            <a:endParaRPr lang="en-US" sz="1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846320" y="1051560"/>
            <a:ext cx="6766560" cy="685800"/>
          </a:xfrm>
          <a:prstGeom prst="rect">
            <a:avLst/>
          </a:prstGeom>
          <a:noFill/>
          <a:ln/>
        </p:spPr>
        <p:txBody>
          <a:bodyPr wrap="square" lIns="0" tIns="0" rIns="0" bIns="0" rtlCol="0" anchor="t"/>
          <a:lstStyle/>
          <a:p>
            <a:pPr algn="l" indent="0" marL="0">
              <a:buNone/>
            </a:pPr>
            <a:r>
              <a:rPr lang="en-US" sz="3200" dirty="0">
                <a:solidFill>
                  <a:schemeClr val="bg1"/>
                </a:solidFill>
              </a:rPr>
              <a:t>21 April</a:t>
            </a:r>
            <a:endParaRPr lang="en-US" sz="3200" dirty="0"/>
          </a:p>
        </p:txBody>
      </p:sp>
      <p:pic>
        <p:nvPicPr>
          <p:cNvPr id="3" name="Image 0" descr="Hey Belfius app on a phone: “Hey John, what can I do for you today?”">    </p:cNvPr>
          <p:cNvPicPr>
            <a:picLocks noChangeAspect="1"/>
          </p:cNvPicPr>
          <p:nvPr/>
        </p:nvPicPr>
        <p:blipFill>
          <a:blip r:embed="rId1"/>
          <a:stretch>
            <a:fillRect/>
          </a:stretch>
        </p:blipFill>
        <p:spPr>
          <a:xfrm>
            <a:off x="1417320" y="822960"/>
            <a:ext cx="2514600" cy="5212080"/>
          </a:xfrm>
          <a:prstGeom prst="rect">
            <a:avLst/>
          </a:prstGeom>
        </p:spPr>
      </p:pic>
      <p:sp>
        <p:nvSpPr>
          <p:cNvPr id="4" name="Text 1"/>
          <p:cNvSpPr txBox="1"/>
          <p:nvPr/>
        </p:nvSpPr>
        <p:spPr>
          <a:xfrm>
            <a:off x="4846320" y="1920240"/>
            <a:ext cx="6675120" cy="2103120"/>
          </a:xfrm>
          <a:prstGeom prst="rect">
            <a:avLst/>
          </a:prstGeom>
          <a:noFill/>
          <a:ln/>
        </p:spPr>
        <p:txBody>
          <a:bodyPr wrap="square" lIns="0" tIns="0" rIns="0" bIns="0" rtlCol="0" anchor="t"/>
          <a:lstStyle/>
          <a:p>
            <a:pPr algn="l" indent="0" marL="0">
              <a:buNone/>
            </a:pPr>
            <a:r>
              <a:rPr lang="en-US" sz="2800" dirty="0">
                <a:solidFill>
                  <a:schemeClr val="bg1"/>
                </a:solidFill>
              </a:rPr>
              <a:t>We proudly launched Hey Belfius, our brand-new personal assistant, enabling an enhanced experience and better service.</a:t>
            </a:r>
            <a:endParaRPr lang="en-US" sz="2800" dirty="0"/>
          </a:p>
        </p:txBody>
      </p:sp>
      <p:sp>
        <p:nvSpPr>
          <p:cNvPr id="5" name="Text 2"/>
          <p:cNvSpPr txBox="1"/>
          <p:nvPr/>
        </p:nvSpPr>
        <p:spPr>
          <a:xfrm>
            <a:off x="4846320" y="4206240"/>
            <a:ext cx="3017520" cy="1463040"/>
          </a:xfrm>
          <a:prstGeom prst="rect">
            <a:avLst/>
          </a:prstGeom>
          <a:noFill/>
          <a:ln/>
        </p:spPr>
        <p:txBody>
          <a:bodyPr wrap="square" lIns="0" tIns="0" rIns="0" bIns="0" rtlCol="0" anchor="ctr"/>
          <a:lstStyle/>
          <a:p>
            <a:pPr algn="l" indent="0" marL="0">
              <a:buNone/>
            </a:pPr>
            <a:r>
              <a:rPr lang="en-US" sz="8800" dirty="0">
                <a:solidFill>
                  <a:schemeClr val="bg1"/>
                </a:solidFill>
                <a:latin typeface="+mj-lt" pitchFamily="34" charset="0"/>
                <a:ea typeface="+mj-lt" pitchFamily="34" charset="-122"/>
                <a:cs typeface="+mj-lt" pitchFamily="34" charset="-120"/>
              </a:rPr>
              <a:t>x2</a:t>
            </a:r>
            <a:endParaRPr lang="en-US" sz="8800" dirty="0"/>
          </a:p>
        </p:txBody>
      </p:sp>
      <p:sp>
        <p:nvSpPr>
          <p:cNvPr id="6" name="Text 3"/>
          <p:cNvSpPr txBox="1"/>
          <p:nvPr/>
        </p:nvSpPr>
        <p:spPr>
          <a:xfrm>
            <a:off x="8138160" y="4206240"/>
            <a:ext cx="3474720" cy="1463040"/>
          </a:xfrm>
          <a:prstGeom prst="rect">
            <a:avLst/>
          </a:prstGeom>
          <a:noFill/>
          <a:ln/>
        </p:spPr>
        <p:txBody>
          <a:bodyPr wrap="square" lIns="0" tIns="0" rIns="0" bIns="0" rtlCol="0" anchor="ctr"/>
          <a:lstStyle/>
          <a:p>
            <a:pPr algn="l" indent="0" marL="0">
              <a:buNone/>
            </a:pPr>
            <a:r>
              <a:rPr lang="en-US" sz="8800" dirty="0">
                <a:solidFill>
                  <a:schemeClr val="bg1"/>
                </a:solidFill>
                <a:latin typeface="+mj-lt" pitchFamily="34" charset="0"/>
                <a:ea typeface="+mj-lt" pitchFamily="34" charset="-122"/>
                <a:cs typeface="+mj-lt" pitchFamily="34" charset="-120"/>
              </a:rPr>
              <a:t>+90%</a:t>
            </a:r>
            <a:endParaRPr lang="en-US" sz="8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lIns="0" tIns="0" rIns="0" bIns="0" rtlCol="0" anchor="ctr"/>
          <a:lstStyle/>
          <a:p>
            <a:pPr algn="l" indent="0" marL="0">
              <a:buNone/>
            </a:pPr>
            <a:r>
              <a:rPr lang="en-US" sz="5200" dirty="0">
                <a:solidFill>
                  <a:schemeClr val="accent1"/>
                </a:solidFill>
              </a:rPr>
              <a:t>That result isn’t the model’s achievement.</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lIns="0" tIns="0" rIns="0" bIns="0" rtlCol="0" anchor="ctr"/>
          <a:lstStyle/>
          <a:p>
            <a:pPr algn="l" indent="0" marL="0">
              <a:buNone/>
            </a:pPr>
            <a:r>
              <a:rPr lang="en-US" sz="5200" dirty="0">
                <a:solidFill>
                  <a:schemeClr val="accent5"/>
                </a:solidFill>
              </a:rPr>
              <a:t>That result isn’t the model’s achievement.</a:t>
            </a:r>
            <a:endParaRPr lang="en-US" sz="5200" dirty="0"/>
          </a:p>
          <a:p>
            <a:pPr algn="l" indent="0" marL="0">
              <a:buNone/>
            </a:pPr>
            <a:r>
              <a:rPr lang="en-US" sz="5200" dirty="0">
                <a:solidFill>
                  <a:schemeClr val="accent1"/>
                </a:solidFill>
              </a:rPr>
              <a:t>It’s the architecture’s.</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Every demo you’ve seen is these two boxes</a:t>
            </a:r>
            <a:endParaRPr lang="en-US" sz="3600" dirty="0"/>
          </a:p>
        </p:txBody>
      </p:sp>
      <p:sp>
        <p:nvSpPr>
          <p:cNvPr id="3" name="Text 1"/>
          <p:cNvSpPr/>
          <p:nvPr/>
        </p:nvSpPr>
        <p:spPr>
          <a:xfrm>
            <a:off x="3200400" y="1783080"/>
            <a:ext cx="1737360" cy="457200"/>
          </a:xfrm>
          <a:prstGeom prst="roundRect">
            <a:avLst>
              <a:gd name="adj" fmla="val 16000"/>
            </a:avLst>
          </a:prstGeom>
          <a:solidFill>
            <a:schemeClr val="tx2"/>
          </a:solidFill>
          <a:ln/>
        </p:spPr>
        <p:txBody>
          <a:bodyPr wrap="square" lIns="73152" tIns="38100" rIns="73152" bIns="38100" rtlCol="0" anchor="ctr"/>
          <a:lstStyle/>
          <a:p>
            <a:pPr algn="ctr" indent="0" marL="0">
              <a:buNone/>
            </a:pPr>
            <a:r>
              <a:rPr lang="en-US" sz="1400" dirty="0">
                <a:solidFill>
                  <a:schemeClr val="bg1"/>
                </a:solidFill>
                <a:latin typeface="+mj-lt" pitchFamily="34" charset="0"/>
                <a:ea typeface="+mj-lt" pitchFamily="34" charset="-122"/>
                <a:cs typeface="+mj-lt" pitchFamily="34" charset="-120"/>
              </a:rPr>
              <a:t>Customer</a:t>
            </a:r>
            <a:endParaRPr lang="en-US" sz="1400" dirty="0"/>
          </a:p>
        </p:txBody>
      </p:sp>
      <p:sp>
        <p:nvSpPr>
          <p:cNvPr id="4" name="Shape 2"/>
          <p:cNvSpPr/>
          <p:nvPr/>
        </p:nvSpPr>
        <p:spPr>
          <a:xfrm>
            <a:off x="548640" y="2560320"/>
            <a:ext cx="7040880" cy="3429000"/>
          </a:xfrm>
          <a:prstGeom prst="roundRect">
            <a:avLst>
              <a:gd name="adj" fmla="val 7467"/>
            </a:avLst>
          </a:prstGeom>
          <a:noFill/>
          <a:ln w="15875">
            <a:solidFill>
              <a:schemeClr val="tx2"/>
            </a:solidFill>
            <a:prstDash val="dash"/>
          </a:ln>
        </p:spPr>
      </p:sp>
      <p:sp>
        <p:nvSpPr>
          <p:cNvPr id="5" name="Text 3"/>
          <p:cNvSpPr/>
          <p:nvPr/>
        </p:nvSpPr>
        <p:spPr>
          <a:xfrm>
            <a:off x="868680" y="2788920"/>
            <a:ext cx="2286000" cy="731520"/>
          </a:xfrm>
          <a:prstGeom prst="roundRect">
            <a:avLst>
              <a:gd name="adj" fmla="val 12500"/>
            </a:avLst>
          </a:prstGeom>
          <a:solidFill>
            <a:schemeClr val="accent1"/>
          </a:solidFill>
          <a:ln/>
        </p:spPr>
        <p:txBody>
          <a:bodyPr wrap="square" lIns="73152" tIns="38100" rIns="73152" bIns="38100" rtlCol="0" anchor="ctr"/>
          <a:lstStyle/>
          <a:p>
            <a:pPr algn="ctr" indent="0" marL="0">
              <a:buNone/>
            </a:pPr>
            <a:r>
              <a:rPr lang="en-US" sz="1700" dirty="0">
                <a:solidFill>
                  <a:schemeClr val="bg1"/>
                </a:solidFill>
                <a:latin typeface="+mj-lt" pitchFamily="34" charset="0"/>
                <a:ea typeface="+mj-lt" pitchFamily="34" charset="-122"/>
                <a:cs typeface="+mj-lt" pitchFamily="34" charset="-120"/>
              </a:rPr>
              <a:t>Interpret</a:t>
            </a:r>
            <a:endParaRPr lang="en-US" sz="1700" dirty="0"/>
          </a:p>
          <a:p>
            <a:pPr algn="ctr" indent="0" marL="0">
              <a:buNone/>
            </a:pPr>
            <a:r>
              <a:rPr lang="en-US" sz="1200" dirty="0">
                <a:solidFill>
                  <a:schemeClr val="bg1"/>
                </a:solidFill>
              </a:rPr>
              <a:t>The model’s ears</a:t>
            </a:r>
            <a:endParaRPr lang="en-US" sz="1700" dirty="0"/>
          </a:p>
        </p:txBody>
      </p:sp>
      <p:sp>
        <p:nvSpPr>
          <p:cNvPr id="6" name="Text 4"/>
          <p:cNvSpPr/>
          <p:nvPr/>
        </p:nvSpPr>
        <p:spPr>
          <a:xfrm>
            <a:off x="4983480" y="2788920"/>
            <a:ext cx="2286000" cy="731520"/>
          </a:xfrm>
          <a:prstGeom prst="roundRect">
            <a:avLst>
              <a:gd name="adj" fmla="val 12500"/>
            </a:avLst>
          </a:prstGeom>
          <a:solidFill>
            <a:schemeClr val="accent1"/>
          </a:solidFill>
          <a:ln/>
        </p:spPr>
        <p:txBody>
          <a:bodyPr wrap="square" lIns="73152" tIns="38100" rIns="73152" bIns="38100" rtlCol="0" anchor="ctr"/>
          <a:lstStyle/>
          <a:p>
            <a:pPr algn="ctr" indent="0" marL="0">
              <a:buNone/>
            </a:pPr>
            <a:r>
              <a:rPr lang="en-US" sz="1700" dirty="0">
                <a:solidFill>
                  <a:schemeClr val="bg1"/>
                </a:solidFill>
                <a:latin typeface="+mj-lt" pitchFamily="34" charset="0"/>
                <a:ea typeface="+mj-lt" pitchFamily="34" charset="-122"/>
                <a:cs typeface="+mj-lt" pitchFamily="34" charset="-120"/>
              </a:rPr>
              <a:t>Compose</a:t>
            </a:r>
            <a:endParaRPr lang="en-US" sz="1700" dirty="0"/>
          </a:p>
          <a:p>
            <a:pPr algn="ctr" indent="0" marL="0">
              <a:buNone/>
            </a:pPr>
            <a:r>
              <a:rPr lang="en-US" sz="1200" dirty="0">
                <a:solidFill>
                  <a:schemeClr val="bg1"/>
                </a:solidFill>
              </a:rPr>
              <a:t>The model’s voice</a:t>
            </a:r>
            <a:endParaRPr lang="en-US" sz="1700" dirty="0"/>
          </a:p>
        </p:txBody>
      </p:sp>
      <p:sp>
        <p:nvSpPr>
          <p:cNvPr id="7" name="Shape 5"/>
          <p:cNvSpPr/>
          <p:nvPr/>
        </p:nvSpPr>
        <p:spPr>
          <a:xfrm>
            <a:off x="3566160" y="2240280"/>
            <a:ext cx="0" cy="256032"/>
          </a:xfrm>
          <a:prstGeom prst="line">
            <a:avLst/>
          </a:prstGeom>
          <a:noFill/>
          <a:ln w="19050">
            <a:solidFill>
              <a:schemeClr val="accent1"/>
            </a:solidFill>
            <a:prstDash val="solid"/>
          </a:ln>
        </p:spPr>
      </p:sp>
      <p:sp>
        <p:nvSpPr>
          <p:cNvPr id="8" name="Shape 6"/>
          <p:cNvSpPr/>
          <p:nvPr/>
        </p:nvSpPr>
        <p:spPr>
          <a:xfrm flipH="1">
            <a:off x="2011680" y="2496312"/>
            <a:ext cx="1554480" cy="0"/>
          </a:xfrm>
          <a:prstGeom prst="line">
            <a:avLst/>
          </a:prstGeom>
          <a:noFill/>
          <a:ln w="19050">
            <a:solidFill>
              <a:schemeClr val="accent1"/>
            </a:solidFill>
            <a:prstDash val="solid"/>
          </a:ln>
        </p:spPr>
      </p:sp>
      <p:sp>
        <p:nvSpPr>
          <p:cNvPr id="9" name="Shape 7"/>
          <p:cNvSpPr/>
          <p:nvPr/>
        </p:nvSpPr>
        <p:spPr>
          <a:xfrm>
            <a:off x="2011680" y="2496312"/>
            <a:ext cx="0" cy="292608"/>
          </a:xfrm>
          <a:prstGeom prst="line">
            <a:avLst/>
          </a:prstGeom>
          <a:noFill/>
          <a:ln w="19050">
            <a:solidFill>
              <a:schemeClr val="accent1"/>
            </a:solidFill>
            <a:prstDash val="solid"/>
            <a:tailEnd type="triangle"/>
          </a:ln>
        </p:spPr>
      </p:sp>
      <p:sp>
        <p:nvSpPr>
          <p:cNvPr id="10" name="Shape 8"/>
          <p:cNvSpPr/>
          <p:nvPr/>
        </p:nvSpPr>
        <p:spPr>
          <a:xfrm flipV="1">
            <a:off x="6126480" y="2496312"/>
            <a:ext cx="0" cy="292608"/>
          </a:xfrm>
          <a:prstGeom prst="line">
            <a:avLst/>
          </a:prstGeom>
          <a:noFill/>
          <a:ln w="19050">
            <a:solidFill>
              <a:schemeClr val="accent1"/>
            </a:solidFill>
            <a:prstDash val="solid"/>
          </a:ln>
        </p:spPr>
      </p:sp>
      <p:sp>
        <p:nvSpPr>
          <p:cNvPr id="11" name="Shape 9"/>
          <p:cNvSpPr/>
          <p:nvPr/>
        </p:nvSpPr>
        <p:spPr>
          <a:xfrm flipH="1">
            <a:off x="4572000" y="2496312"/>
            <a:ext cx="1554480" cy="0"/>
          </a:xfrm>
          <a:prstGeom prst="line">
            <a:avLst/>
          </a:prstGeom>
          <a:noFill/>
          <a:ln w="19050">
            <a:solidFill>
              <a:schemeClr val="accent1"/>
            </a:solidFill>
            <a:prstDash val="solid"/>
          </a:ln>
        </p:spPr>
      </p:sp>
      <p:sp>
        <p:nvSpPr>
          <p:cNvPr id="12" name="Shape 10"/>
          <p:cNvSpPr/>
          <p:nvPr/>
        </p:nvSpPr>
        <p:spPr>
          <a:xfrm flipV="1">
            <a:off x="4572000" y="2240280"/>
            <a:ext cx="0" cy="256032"/>
          </a:xfrm>
          <a:prstGeom prst="line">
            <a:avLst/>
          </a:prstGeom>
          <a:noFill/>
          <a:ln w="19050">
            <a:solidFill>
              <a:schemeClr val="accent1"/>
            </a:solidFill>
            <a:prstDash val="solid"/>
            <a:tailEnd type="triangle"/>
          </a:ln>
        </p:spPr>
      </p:sp>
      <p:sp>
        <p:nvSpPr>
          <p:cNvPr id="13" name="Shape 11"/>
          <p:cNvSpPr/>
          <p:nvPr/>
        </p:nvSpPr>
        <p:spPr>
          <a:xfrm>
            <a:off x="3154680" y="3154680"/>
            <a:ext cx="1828800" cy="0"/>
          </a:xfrm>
          <a:prstGeom prst="line">
            <a:avLst/>
          </a:prstGeom>
          <a:noFill/>
          <a:ln w="19050">
            <a:solidFill>
              <a:schemeClr val="accent1"/>
            </a:solidFill>
            <a:prstDash val="solid"/>
            <a:tailEnd type="triangle"/>
          </a:ln>
        </p:spPr>
      </p:sp>
      <p:sp>
        <p:nvSpPr>
          <p:cNvPr id="14" name="Shape 12"/>
          <p:cNvSpPr/>
          <p:nvPr/>
        </p:nvSpPr>
        <p:spPr>
          <a:xfrm>
            <a:off x="3154680" y="3977640"/>
            <a:ext cx="1828800" cy="731520"/>
          </a:xfrm>
          <a:prstGeom prst="roundRect">
            <a:avLst>
              <a:gd name="adj" fmla="val 12500"/>
            </a:avLst>
          </a:prstGeom>
          <a:noFill/>
          <a:ln w="15875">
            <a:solidFill>
              <a:schemeClr val="tx2"/>
            </a:solidFill>
            <a:prstDash val="dash"/>
          </a:ln>
        </p:spPr>
      </p:sp>
      <p:sp>
        <p:nvSpPr>
          <p:cNvPr id="15" name="Shape 13"/>
          <p:cNvSpPr/>
          <p:nvPr/>
        </p:nvSpPr>
        <p:spPr>
          <a:xfrm>
            <a:off x="777240" y="5029200"/>
            <a:ext cx="1508760" cy="685800"/>
          </a:xfrm>
          <a:prstGeom prst="roundRect">
            <a:avLst>
              <a:gd name="adj" fmla="val 13333"/>
            </a:avLst>
          </a:prstGeom>
          <a:noFill/>
          <a:ln w="15875">
            <a:solidFill>
              <a:schemeClr val="tx2"/>
            </a:solidFill>
            <a:prstDash val="dash"/>
          </a:ln>
        </p:spPr>
      </p:sp>
      <p:sp>
        <p:nvSpPr>
          <p:cNvPr id="16" name="Shape 14"/>
          <p:cNvSpPr/>
          <p:nvPr/>
        </p:nvSpPr>
        <p:spPr>
          <a:xfrm>
            <a:off x="2468880" y="5029200"/>
            <a:ext cx="1508760" cy="685800"/>
          </a:xfrm>
          <a:prstGeom prst="roundRect">
            <a:avLst>
              <a:gd name="adj" fmla="val 13333"/>
            </a:avLst>
          </a:prstGeom>
          <a:noFill/>
          <a:ln w="15875">
            <a:solidFill>
              <a:schemeClr val="tx2"/>
            </a:solidFill>
            <a:prstDash val="dash"/>
          </a:ln>
        </p:spPr>
      </p:sp>
      <p:sp>
        <p:nvSpPr>
          <p:cNvPr id="17" name="Shape 15"/>
          <p:cNvSpPr/>
          <p:nvPr/>
        </p:nvSpPr>
        <p:spPr>
          <a:xfrm>
            <a:off x="4160520" y="5029200"/>
            <a:ext cx="1508760" cy="685800"/>
          </a:xfrm>
          <a:prstGeom prst="roundRect">
            <a:avLst>
              <a:gd name="adj" fmla="val 13333"/>
            </a:avLst>
          </a:prstGeom>
          <a:noFill/>
          <a:ln w="15875">
            <a:solidFill>
              <a:schemeClr val="tx2"/>
            </a:solidFill>
            <a:prstDash val="dash"/>
          </a:ln>
        </p:spPr>
      </p:sp>
      <p:sp>
        <p:nvSpPr>
          <p:cNvPr id="18" name="Shape 16"/>
          <p:cNvSpPr/>
          <p:nvPr/>
        </p:nvSpPr>
        <p:spPr>
          <a:xfrm>
            <a:off x="5852160" y="5029200"/>
            <a:ext cx="1508760" cy="685800"/>
          </a:xfrm>
          <a:prstGeom prst="roundRect">
            <a:avLst>
              <a:gd name="adj" fmla="val 13333"/>
            </a:avLst>
          </a:prstGeom>
          <a:noFill/>
          <a:ln w="15875">
            <a:solidFill>
              <a:schemeClr val="tx2"/>
            </a:solidFill>
            <a:prstDash val="dash"/>
          </a:ln>
        </p:spPr>
      </p:sp>
      <p:sp>
        <p:nvSpPr>
          <p:cNvPr id="19" name="Text 17"/>
          <p:cNvSpPr txBox="1"/>
          <p:nvPr/>
        </p:nvSpPr>
        <p:spPr>
          <a:xfrm>
            <a:off x="8001000" y="2286000"/>
            <a:ext cx="3566160" cy="3657600"/>
          </a:xfrm>
          <a:prstGeom prst="rect">
            <a:avLst/>
          </a:prstGeom>
          <a:noFill/>
          <a:ln/>
        </p:spPr>
        <p:txBody>
          <a:bodyPr wrap="square" lIns="0" tIns="0" rIns="0" bIns="0" rtlCol="0" anchor="t"/>
          <a:lstStyle/>
          <a:p>
            <a:pPr algn="l" indent="0" marL="0">
              <a:spcAft>
                <a:spcPts val="600"/>
              </a:spcAft>
              <a:buNone/>
            </a:pPr>
            <a:r>
              <a:rPr lang="en-US" sz="2200" dirty="0">
                <a:solidFill>
                  <a:schemeClr val="accent1"/>
                </a:solidFill>
                <a:latin typeface="+mj-lt" pitchFamily="34" charset="0"/>
                <a:ea typeface="+mj-lt" pitchFamily="34" charset="-122"/>
                <a:cs typeface="+mj-lt" pitchFamily="34" charset="-120"/>
              </a:rPr>
              <a:t>What demos give you</a:t>
            </a:r>
            <a:endParaRPr lang="en-US" sz="2200" dirty="0"/>
          </a:p>
          <a:p>
            <a:pPr algn="l" indent="0" marL="0">
              <a:spcAft>
                <a:spcPts val="2200"/>
              </a:spcAft>
              <a:buNone/>
            </a:pPr>
            <a:r>
              <a:rPr lang="en-US" sz="1800" dirty="0">
                <a:solidFill>
                  <a:schemeClr val="tx1"/>
                </a:solidFill>
              </a:rPr>
              <a:t>Understands the words. Writes a fluent reply.</a:t>
            </a:r>
            <a:endParaRPr lang="en-US" sz="2200" dirty="0"/>
          </a:p>
          <a:p>
            <a:pPr algn="l" indent="0" marL="0">
              <a:spcAft>
                <a:spcPts val="600"/>
              </a:spcAft>
              <a:buNone/>
            </a:pPr>
            <a:r>
              <a:rPr lang="en-US" sz="2200" dirty="0">
                <a:solidFill>
                  <a:schemeClr val="accent1"/>
                </a:solidFill>
                <a:latin typeface="+mj-lt" pitchFamily="34" charset="0"/>
                <a:ea typeface="+mj-lt" pitchFamily="34" charset="-122"/>
                <a:cs typeface="+mj-lt" pitchFamily="34" charset="-120"/>
              </a:rPr>
              <a:t>But…</a:t>
            </a:r>
            <a:endParaRPr lang="en-US" sz="2200" dirty="0"/>
          </a:p>
          <a:p>
            <a:pPr algn="l" indent="0" marL="0">
              <a:buNone/>
            </a:pPr>
            <a:r>
              <a:rPr lang="en-US" sz="1800" dirty="0">
                <a:solidFill>
                  <a:schemeClr val="tx1"/>
                </a:solidFill>
              </a:rPr>
              <a:t>Doesn’t know your bank, can’t see your accounts, can’t do anything.</a:t>
            </a:r>
            <a:endParaRPr lang="en-US" sz="2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3840480"/>
          </a:xfrm>
          <a:prstGeom prst="rect">
            <a:avLst/>
          </a:prstGeom>
          <a:noFill/>
          <a:ln/>
        </p:spPr>
        <p:txBody>
          <a:bodyPr wrap="square" lIns="0" tIns="0" rIns="0" bIns="0" rtlCol="0" anchor="ctr"/>
          <a:lstStyle/>
          <a:p>
            <a:pPr algn="l" indent="0" marL="0">
              <a:buNone/>
            </a:pPr>
            <a:r>
              <a:rPr lang="en-US" sz="5200" dirty="0">
                <a:solidFill>
                  <a:schemeClr val="bg1"/>
                </a:solidFill>
              </a:rPr>
              <a:t>Customers don’t expect intelligence.</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They expect it to be…</a:t>
            </a:r>
            <a:endParaRPr lang="en-US" sz="3600" dirty="0"/>
          </a:p>
        </p:txBody>
      </p:sp>
      <p:sp>
        <p:nvSpPr>
          <p:cNvPr id="3" name="Text 1"/>
          <p:cNvSpPr txBox="1"/>
          <p:nvPr/>
        </p:nvSpPr>
        <p:spPr>
          <a:xfrm>
            <a:off x="822960" y="1371600"/>
            <a:ext cx="2651760" cy="320040"/>
          </a:xfrm>
          <a:prstGeom prst="rect">
            <a:avLst/>
          </a:prstGeom>
          <a:noFill/>
          <a:ln/>
        </p:spPr>
        <p:txBody>
          <a:bodyPr wrap="square" lIns="0" tIns="0" rIns="0" bIns="0" rtlCol="0" anchor="t"/>
          <a:lstStyle/>
          <a:p>
            <a:pPr algn="ctr" indent="0" marL="0">
              <a:buNone/>
            </a:pPr>
            <a:r>
              <a:rPr lang="en-US" sz="1600" dirty="0">
                <a:solidFill>
                  <a:schemeClr val="accent1"/>
                </a:solidFill>
              </a:rPr>
              <a:t>01.</a:t>
            </a:r>
            <a:endParaRPr lang="en-US" sz="1600" dirty="0"/>
          </a:p>
        </p:txBody>
      </p:sp>
      <p:sp>
        <p:nvSpPr>
          <p:cNvPr id="4" name="Text 2"/>
          <p:cNvSpPr txBox="1"/>
          <p:nvPr/>
        </p:nvSpPr>
        <p:spPr>
          <a:xfrm>
            <a:off x="822960" y="1664208"/>
            <a:ext cx="2651760" cy="548640"/>
          </a:xfrm>
          <a:prstGeom prst="rect">
            <a:avLst/>
          </a:prstGeom>
          <a:noFill/>
          <a:ln/>
        </p:spPr>
        <p:txBody>
          <a:bodyPr wrap="square" lIns="0" tIns="0" rIns="0" bIns="0" rtlCol="0" anchor="t"/>
          <a:lstStyle/>
          <a:p>
            <a:pPr algn="ctr" indent="0" marL="0">
              <a:buNone/>
            </a:pPr>
            <a:r>
              <a:rPr lang="en-US" sz="3000" dirty="0">
                <a:solidFill>
                  <a:schemeClr val="accent1"/>
                </a:solidFill>
                <a:latin typeface="+mj-lt" pitchFamily="34" charset="0"/>
                <a:ea typeface="+mj-lt" pitchFamily="34" charset="-122"/>
                <a:cs typeface="+mj-lt" pitchFamily="34" charset="-120"/>
              </a:rPr>
              <a:t>True</a:t>
            </a:r>
            <a:endParaRPr lang="en-US" sz="3000" dirty="0"/>
          </a:p>
        </p:txBody>
      </p:sp>
      <p:sp>
        <p:nvSpPr>
          <p:cNvPr id="5" name="Text 3"/>
          <p:cNvSpPr txBox="1"/>
          <p:nvPr/>
        </p:nvSpPr>
        <p:spPr>
          <a:xfrm>
            <a:off x="914400" y="2240280"/>
            <a:ext cx="2468880" cy="502920"/>
          </a:xfrm>
          <a:prstGeom prst="rect">
            <a:avLst/>
          </a:prstGeom>
          <a:noFill/>
          <a:ln/>
        </p:spPr>
        <p:txBody>
          <a:bodyPr wrap="square" lIns="0" tIns="0" rIns="0" bIns="0" rtlCol="0" anchor="t"/>
          <a:lstStyle/>
          <a:p>
            <a:pPr algn="ctr" indent="0" marL="0">
              <a:buNone/>
            </a:pPr>
            <a:r>
              <a:rPr lang="en-US" sz="1400" dirty="0">
                <a:solidFill>
                  <a:schemeClr val="tx2"/>
                </a:solidFill>
              </a:rPr>
              <a:t>Grounded on curated data</a:t>
            </a:r>
            <a:endParaRPr lang="en-US" sz="1400" dirty="0"/>
          </a:p>
        </p:txBody>
      </p:sp>
      <p:pic>
        <p:nvPicPr>
          <p:cNvPr id="6" name="Image 0" descr="Hey Belfius answering a financial-education question">    </p:cNvPr>
          <p:cNvPicPr>
            <a:picLocks noChangeAspect="1"/>
          </p:cNvPicPr>
          <p:nvPr/>
        </p:nvPicPr>
        <p:blipFill>
          <a:blip r:embed="rId1"/>
          <a:stretch>
            <a:fillRect/>
          </a:stretch>
        </p:blipFill>
        <p:spPr>
          <a:xfrm>
            <a:off x="1167533" y="2834640"/>
            <a:ext cx="1962615" cy="3520440"/>
          </a:xfrm>
          <a:prstGeom prst="rect">
            <a:avLst/>
          </a:prstGeom>
        </p:spPr>
      </p:pic>
      <p:sp>
        <p:nvSpPr>
          <p:cNvPr id="7" name="Text 4"/>
          <p:cNvSpPr txBox="1"/>
          <p:nvPr/>
        </p:nvSpPr>
        <p:spPr>
          <a:xfrm>
            <a:off x="3474720" y="1371600"/>
            <a:ext cx="2651760" cy="320040"/>
          </a:xfrm>
          <a:prstGeom prst="rect">
            <a:avLst/>
          </a:prstGeom>
          <a:noFill/>
          <a:ln/>
        </p:spPr>
        <p:txBody>
          <a:bodyPr wrap="square" lIns="0" tIns="0" rIns="0" bIns="0" rtlCol="0" anchor="t"/>
          <a:lstStyle/>
          <a:p>
            <a:pPr algn="ctr" indent="0" marL="0">
              <a:buNone/>
            </a:pPr>
            <a:r>
              <a:rPr lang="en-US" sz="1600" dirty="0">
                <a:solidFill>
                  <a:schemeClr val="accent1"/>
                </a:solidFill>
              </a:rPr>
              <a:t>02.</a:t>
            </a:r>
            <a:endParaRPr lang="en-US" sz="1600" dirty="0"/>
          </a:p>
        </p:txBody>
      </p:sp>
      <p:sp>
        <p:nvSpPr>
          <p:cNvPr id="8" name="Text 5"/>
          <p:cNvSpPr txBox="1"/>
          <p:nvPr/>
        </p:nvSpPr>
        <p:spPr>
          <a:xfrm>
            <a:off x="3474720" y="1664208"/>
            <a:ext cx="2651760" cy="548640"/>
          </a:xfrm>
          <a:prstGeom prst="rect">
            <a:avLst/>
          </a:prstGeom>
          <a:noFill/>
          <a:ln/>
        </p:spPr>
        <p:txBody>
          <a:bodyPr wrap="square" lIns="0" tIns="0" rIns="0" bIns="0" rtlCol="0" anchor="t"/>
          <a:lstStyle/>
          <a:p>
            <a:pPr algn="ctr" indent="0" marL="0">
              <a:buNone/>
            </a:pPr>
            <a:r>
              <a:rPr lang="en-US" sz="3000" dirty="0">
                <a:solidFill>
                  <a:schemeClr val="accent1"/>
                </a:solidFill>
                <a:latin typeface="+mj-lt" pitchFamily="34" charset="0"/>
                <a:ea typeface="+mj-lt" pitchFamily="34" charset="-122"/>
                <a:cs typeface="+mj-lt" pitchFamily="34" charset="-120"/>
              </a:rPr>
              <a:t>About me</a:t>
            </a:r>
            <a:endParaRPr lang="en-US" sz="3000" dirty="0"/>
          </a:p>
        </p:txBody>
      </p:sp>
      <p:sp>
        <p:nvSpPr>
          <p:cNvPr id="9" name="Text 6"/>
          <p:cNvSpPr txBox="1"/>
          <p:nvPr/>
        </p:nvSpPr>
        <p:spPr>
          <a:xfrm>
            <a:off x="3566160" y="2240280"/>
            <a:ext cx="2468880" cy="502920"/>
          </a:xfrm>
          <a:prstGeom prst="rect">
            <a:avLst/>
          </a:prstGeom>
          <a:noFill/>
          <a:ln/>
        </p:spPr>
        <p:txBody>
          <a:bodyPr wrap="square" lIns="0" tIns="0" rIns="0" bIns="0" rtlCol="0" anchor="t"/>
          <a:lstStyle/>
          <a:p>
            <a:pPr algn="ctr" indent="0" marL="0">
              <a:buNone/>
            </a:pPr>
            <a:r>
              <a:rPr lang="en-US" sz="1400" dirty="0">
                <a:solidFill>
                  <a:schemeClr val="tx2"/>
                </a:solidFill>
              </a:rPr>
              <a:t>Through a personalized experience</a:t>
            </a:r>
            <a:endParaRPr lang="en-US" sz="1400" dirty="0"/>
          </a:p>
        </p:txBody>
      </p:sp>
      <p:pic>
        <p:nvPicPr>
          <p:cNvPr id="10" name="Image 1" descr="Hey Belfius showing personalized shopping spend">    </p:cNvPr>
          <p:cNvPicPr>
            <a:picLocks noChangeAspect="1"/>
          </p:cNvPicPr>
          <p:nvPr/>
        </p:nvPicPr>
        <p:blipFill>
          <a:blip r:embed="rId2"/>
          <a:stretch>
            <a:fillRect/>
          </a:stretch>
        </p:blipFill>
        <p:spPr>
          <a:xfrm>
            <a:off x="3894793" y="2834640"/>
            <a:ext cx="1811613" cy="3520440"/>
          </a:xfrm>
          <a:prstGeom prst="rect">
            <a:avLst/>
          </a:prstGeom>
        </p:spPr>
      </p:pic>
      <p:sp>
        <p:nvSpPr>
          <p:cNvPr id="11" name="Text 7"/>
          <p:cNvSpPr txBox="1"/>
          <p:nvPr/>
        </p:nvSpPr>
        <p:spPr>
          <a:xfrm>
            <a:off x="6126480" y="1371600"/>
            <a:ext cx="2651760" cy="320040"/>
          </a:xfrm>
          <a:prstGeom prst="rect">
            <a:avLst/>
          </a:prstGeom>
          <a:noFill/>
          <a:ln/>
        </p:spPr>
        <p:txBody>
          <a:bodyPr wrap="square" lIns="0" tIns="0" rIns="0" bIns="0" rtlCol="0" anchor="t"/>
          <a:lstStyle/>
          <a:p>
            <a:pPr algn="ctr" indent="0" marL="0">
              <a:buNone/>
            </a:pPr>
            <a:r>
              <a:rPr lang="en-US" sz="1600" dirty="0">
                <a:solidFill>
                  <a:schemeClr val="accent1"/>
                </a:solidFill>
              </a:rPr>
              <a:t>03.</a:t>
            </a:r>
            <a:endParaRPr lang="en-US" sz="1600" dirty="0"/>
          </a:p>
        </p:txBody>
      </p:sp>
      <p:sp>
        <p:nvSpPr>
          <p:cNvPr id="12" name="Text 8"/>
          <p:cNvSpPr txBox="1"/>
          <p:nvPr/>
        </p:nvSpPr>
        <p:spPr>
          <a:xfrm>
            <a:off x="6126480" y="1664208"/>
            <a:ext cx="2651760" cy="548640"/>
          </a:xfrm>
          <a:prstGeom prst="rect">
            <a:avLst/>
          </a:prstGeom>
          <a:noFill/>
          <a:ln/>
        </p:spPr>
        <p:txBody>
          <a:bodyPr wrap="square" lIns="0" tIns="0" rIns="0" bIns="0" rtlCol="0" anchor="t"/>
          <a:lstStyle/>
          <a:p>
            <a:pPr algn="ctr" indent="0" marL="0">
              <a:buNone/>
            </a:pPr>
            <a:r>
              <a:rPr lang="en-US" sz="3000" dirty="0">
                <a:solidFill>
                  <a:schemeClr val="accent1"/>
                </a:solidFill>
                <a:latin typeface="+mj-lt" pitchFamily="34" charset="0"/>
                <a:ea typeface="+mj-lt" pitchFamily="34" charset="-122"/>
                <a:cs typeface="+mj-lt" pitchFamily="34" charset="-120"/>
              </a:rPr>
              <a:t>Useful</a:t>
            </a:r>
            <a:endParaRPr lang="en-US" sz="3000" dirty="0"/>
          </a:p>
        </p:txBody>
      </p:sp>
      <p:sp>
        <p:nvSpPr>
          <p:cNvPr id="13" name="Text 9"/>
          <p:cNvSpPr txBox="1"/>
          <p:nvPr/>
        </p:nvSpPr>
        <p:spPr>
          <a:xfrm>
            <a:off x="6217920" y="2240280"/>
            <a:ext cx="2468880" cy="502920"/>
          </a:xfrm>
          <a:prstGeom prst="rect">
            <a:avLst/>
          </a:prstGeom>
          <a:noFill/>
          <a:ln/>
        </p:spPr>
        <p:txBody>
          <a:bodyPr wrap="square" lIns="0" tIns="0" rIns="0" bIns="0" rtlCol="0" anchor="t"/>
          <a:lstStyle/>
          <a:p>
            <a:pPr algn="ctr" indent="0" marL="0">
              <a:buNone/>
            </a:pPr>
            <a:r>
              <a:rPr lang="en-US" sz="1400" dirty="0">
                <a:solidFill>
                  <a:schemeClr val="tx2"/>
                </a:solidFill>
              </a:rPr>
              <a:t>Guiding you fluently</a:t>
            </a:r>
            <a:endParaRPr lang="en-US" sz="1400" dirty="0"/>
          </a:p>
        </p:txBody>
      </p:sp>
      <p:pic>
        <p:nvPicPr>
          <p:cNvPr id="14" name="Image 2" descr="Hey Belfius guiding a customer to a Belfius feature">    </p:cNvPr>
          <p:cNvPicPr>
            <a:picLocks noChangeAspect="1"/>
          </p:cNvPicPr>
          <p:nvPr/>
        </p:nvPicPr>
        <p:blipFill>
          <a:blip r:embed="rId3"/>
          <a:stretch>
            <a:fillRect/>
          </a:stretch>
        </p:blipFill>
        <p:spPr>
          <a:xfrm>
            <a:off x="6471156" y="2834640"/>
            <a:ext cx="1962407" cy="3520440"/>
          </a:xfrm>
          <a:prstGeom prst="rect">
            <a:avLst/>
          </a:prstGeom>
        </p:spPr>
      </p:pic>
      <p:sp>
        <p:nvSpPr>
          <p:cNvPr id="15" name="Text 10"/>
          <p:cNvSpPr txBox="1"/>
          <p:nvPr/>
        </p:nvSpPr>
        <p:spPr>
          <a:xfrm>
            <a:off x="8778240" y="1371600"/>
            <a:ext cx="2651760" cy="320040"/>
          </a:xfrm>
          <a:prstGeom prst="rect">
            <a:avLst/>
          </a:prstGeom>
          <a:noFill/>
          <a:ln/>
        </p:spPr>
        <p:txBody>
          <a:bodyPr wrap="square" lIns="0" tIns="0" rIns="0" bIns="0" rtlCol="0" anchor="t"/>
          <a:lstStyle/>
          <a:p>
            <a:pPr algn="ctr" indent="0" marL="0">
              <a:buNone/>
            </a:pPr>
            <a:r>
              <a:rPr lang="en-US" sz="1600" dirty="0">
                <a:solidFill>
                  <a:schemeClr val="accent1"/>
                </a:solidFill>
              </a:rPr>
              <a:t>04.</a:t>
            </a:r>
            <a:endParaRPr lang="en-US" sz="1600" dirty="0"/>
          </a:p>
        </p:txBody>
      </p:sp>
      <p:sp>
        <p:nvSpPr>
          <p:cNvPr id="16" name="Text 11"/>
          <p:cNvSpPr txBox="1"/>
          <p:nvPr/>
        </p:nvSpPr>
        <p:spPr>
          <a:xfrm>
            <a:off x="8778240" y="1664208"/>
            <a:ext cx="2651760" cy="548640"/>
          </a:xfrm>
          <a:prstGeom prst="rect">
            <a:avLst/>
          </a:prstGeom>
          <a:noFill/>
          <a:ln/>
        </p:spPr>
        <p:txBody>
          <a:bodyPr wrap="square" lIns="0" tIns="0" rIns="0" bIns="0" rtlCol="0" anchor="t"/>
          <a:lstStyle/>
          <a:p>
            <a:pPr algn="ctr" indent="0" marL="0">
              <a:buNone/>
            </a:pPr>
            <a:r>
              <a:rPr lang="en-US" sz="3000" dirty="0">
                <a:solidFill>
                  <a:schemeClr val="accent1"/>
                </a:solidFill>
                <a:latin typeface="+mj-lt" pitchFamily="34" charset="0"/>
                <a:ea typeface="+mj-lt" pitchFamily="34" charset="-122"/>
                <a:cs typeface="+mj-lt" pitchFamily="34" charset="-120"/>
              </a:rPr>
              <a:t>Done</a:t>
            </a:r>
            <a:endParaRPr lang="en-US" sz="3000" dirty="0"/>
          </a:p>
        </p:txBody>
      </p:sp>
      <p:sp>
        <p:nvSpPr>
          <p:cNvPr id="17" name="Text 12"/>
          <p:cNvSpPr txBox="1"/>
          <p:nvPr/>
        </p:nvSpPr>
        <p:spPr>
          <a:xfrm>
            <a:off x="8869680" y="2240280"/>
            <a:ext cx="2468880" cy="502920"/>
          </a:xfrm>
          <a:prstGeom prst="rect">
            <a:avLst/>
          </a:prstGeom>
          <a:noFill/>
          <a:ln/>
        </p:spPr>
        <p:txBody>
          <a:bodyPr wrap="square" lIns="0" tIns="0" rIns="0" bIns="0" rtlCol="0" anchor="t"/>
          <a:lstStyle/>
          <a:p>
            <a:pPr algn="ctr" indent="0" marL="0">
              <a:buNone/>
            </a:pPr>
            <a:r>
              <a:rPr lang="en-US" sz="1400" dirty="0">
                <a:solidFill>
                  <a:schemeClr val="tx2"/>
                </a:solidFill>
              </a:rPr>
              <a:t>By performing actions</a:t>
            </a:r>
            <a:endParaRPr lang="en-US" sz="1400" dirty="0"/>
          </a:p>
        </p:txBody>
      </p:sp>
      <p:pic>
        <p:nvPicPr>
          <p:cNvPr id="18" name="Image 3" descr="Hey Belfius starting a credit-card request">    </p:cNvPr>
          <p:cNvPicPr>
            <a:picLocks noChangeAspect="1"/>
          </p:cNvPicPr>
          <p:nvPr/>
        </p:nvPicPr>
        <p:blipFill>
          <a:blip r:embed="rId4"/>
          <a:stretch>
            <a:fillRect/>
          </a:stretch>
        </p:blipFill>
        <p:spPr>
          <a:xfrm>
            <a:off x="9191889" y="2834640"/>
            <a:ext cx="1824462" cy="3520440"/>
          </a:xfrm>
          <a:prstGeom prst="rect">
            <a:avLst/>
          </a:prstGeom>
        </p:spPr>
      </p:pic>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Be true</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Leverage diverse sources for superior customer service</a:t>
            </a:r>
            <a:endParaRPr lang="en-US" sz="1800" dirty="0"/>
          </a:p>
        </p:txBody>
      </p:sp>
      <p:pic>
        <p:nvPicPr>
          <p:cNvPr id="4" name="Image 0" descr="Hey Belfius explaining what a bond is">    </p:cNvPr>
          <p:cNvPicPr>
            <a:picLocks noChangeAspect="1"/>
          </p:cNvPicPr>
          <p:nvPr/>
        </p:nvPicPr>
        <p:blipFill>
          <a:blip r:embed="rId1"/>
          <a:stretch>
            <a:fillRect/>
          </a:stretch>
        </p:blipFill>
        <p:spPr>
          <a:xfrm>
            <a:off x="1558059" y="2057400"/>
            <a:ext cx="2065787" cy="3794760"/>
          </a:xfrm>
          <a:prstGeom prst="rect">
            <a:avLst/>
          </a:prstGeom>
        </p:spPr>
      </p:pic>
      <p:sp>
        <p:nvSpPr>
          <p:cNvPr id="5" name="Text 2"/>
          <p:cNvSpPr txBox="1"/>
          <p:nvPr/>
        </p:nvSpPr>
        <p:spPr>
          <a:xfrm>
            <a:off x="945032"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Financial education</a:t>
            </a:r>
            <a:endParaRPr lang="en-US" sz="1600" dirty="0"/>
          </a:p>
        </p:txBody>
      </p:sp>
      <p:pic>
        <p:nvPicPr>
          <p:cNvPr id="6" name="Image 1" descr="Hey Belfius helping with a phishing message">    </p:cNvPr>
          <p:cNvPicPr>
            <a:picLocks noChangeAspect="1"/>
          </p:cNvPicPr>
          <p:nvPr/>
        </p:nvPicPr>
        <p:blipFill>
          <a:blip r:embed="rId2"/>
          <a:stretch>
            <a:fillRect/>
          </a:stretch>
        </p:blipFill>
        <p:spPr>
          <a:xfrm>
            <a:off x="5070312" y="2057400"/>
            <a:ext cx="2113250" cy="3794760"/>
          </a:xfrm>
          <a:prstGeom prst="rect">
            <a:avLst/>
          </a:prstGeom>
        </p:spPr>
      </p:pic>
      <p:sp>
        <p:nvSpPr>
          <p:cNvPr id="7" name="Text 3"/>
          <p:cNvSpPr txBox="1"/>
          <p:nvPr/>
        </p:nvSpPr>
        <p:spPr>
          <a:xfrm>
            <a:off x="4481017"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Phishing and fraud</a:t>
            </a:r>
            <a:endParaRPr lang="en-US" sz="1600" dirty="0"/>
          </a:p>
        </p:txBody>
      </p:sp>
      <p:pic>
        <p:nvPicPr>
          <p:cNvPr id="8" name="Image 2" descr="Hey Belfius showing where to find an ATM">    </p:cNvPr>
          <p:cNvPicPr>
            <a:picLocks noChangeAspect="1"/>
          </p:cNvPicPr>
          <p:nvPr/>
        </p:nvPicPr>
        <p:blipFill>
          <a:blip r:embed="rId3"/>
          <a:stretch>
            <a:fillRect/>
          </a:stretch>
        </p:blipFill>
        <p:spPr>
          <a:xfrm>
            <a:off x="8630029" y="2057400"/>
            <a:ext cx="2065787" cy="3794760"/>
          </a:xfrm>
          <a:prstGeom prst="rect">
            <a:avLst/>
          </a:prstGeom>
        </p:spPr>
      </p:pic>
      <p:sp>
        <p:nvSpPr>
          <p:cNvPr id="9" name="Text 4"/>
          <p:cNvSpPr txBox="1"/>
          <p:nvPr/>
        </p:nvSpPr>
        <p:spPr>
          <a:xfrm>
            <a:off x="8017002"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FAQ information</a:t>
            </a:r>
            <a:endParaRPr lang="en-US" sz="1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Do</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Elevate conversational experiences with end-to-end flows</a:t>
            </a:r>
            <a:endParaRPr lang="en-US" sz="1800" dirty="0"/>
          </a:p>
        </p:txBody>
      </p:sp>
      <p:pic>
        <p:nvPicPr>
          <p:cNvPr id="4" name="Image 0" descr="Hey Belfius guiding a credit-card request">    </p:cNvPr>
          <p:cNvPicPr>
            <a:picLocks noChangeAspect="1"/>
          </p:cNvPicPr>
          <p:nvPr/>
        </p:nvPicPr>
        <p:blipFill>
          <a:blip r:embed="rId1"/>
          <a:stretch>
            <a:fillRect/>
          </a:stretch>
        </p:blipFill>
        <p:spPr>
          <a:xfrm>
            <a:off x="1611659" y="2057400"/>
            <a:ext cx="1958586" cy="3794760"/>
          </a:xfrm>
          <a:prstGeom prst="rect">
            <a:avLst/>
          </a:prstGeom>
        </p:spPr>
      </p:pic>
      <p:sp>
        <p:nvSpPr>
          <p:cNvPr id="5" name="Text 2"/>
          <p:cNvSpPr txBox="1"/>
          <p:nvPr/>
        </p:nvSpPr>
        <p:spPr>
          <a:xfrm>
            <a:off x="945032"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Get a credit card</a:t>
            </a:r>
            <a:endParaRPr lang="en-US" sz="1600" dirty="0"/>
          </a:p>
        </p:txBody>
      </p:sp>
      <p:pic>
        <p:nvPicPr>
          <p:cNvPr id="6" name="Image 1" descr="Hey Belfius blocking a card">    </p:cNvPr>
          <p:cNvPicPr>
            <a:picLocks noChangeAspect="1"/>
          </p:cNvPicPr>
          <p:nvPr/>
        </p:nvPicPr>
        <p:blipFill>
          <a:blip r:embed="rId2"/>
          <a:stretch>
            <a:fillRect/>
          </a:stretch>
        </p:blipFill>
        <p:spPr>
          <a:xfrm>
            <a:off x="5066290" y="2057400"/>
            <a:ext cx="2121294" cy="3794760"/>
          </a:xfrm>
          <a:prstGeom prst="rect">
            <a:avLst/>
          </a:prstGeom>
        </p:spPr>
      </p:pic>
      <p:sp>
        <p:nvSpPr>
          <p:cNvPr id="7" name="Text 3"/>
          <p:cNvSpPr txBox="1"/>
          <p:nvPr/>
        </p:nvSpPr>
        <p:spPr>
          <a:xfrm>
            <a:off x="4481017"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Block or unblock a card</a:t>
            </a:r>
            <a:endParaRPr lang="en-US" sz="1600" dirty="0"/>
          </a:p>
        </p:txBody>
      </p:sp>
      <p:pic>
        <p:nvPicPr>
          <p:cNvPr id="8" name="Image 2" descr="Hey Belfius changing a card limit">    </p:cNvPr>
          <p:cNvPicPr>
            <a:picLocks noChangeAspect="1"/>
          </p:cNvPicPr>
          <p:nvPr/>
        </p:nvPicPr>
        <p:blipFill>
          <a:blip r:embed="rId3"/>
          <a:stretch>
            <a:fillRect/>
          </a:stretch>
        </p:blipFill>
        <p:spPr>
          <a:xfrm>
            <a:off x="8596382" y="2057400"/>
            <a:ext cx="2133079" cy="3794760"/>
          </a:xfrm>
          <a:prstGeom prst="rect">
            <a:avLst/>
          </a:prstGeom>
        </p:spPr>
      </p:pic>
      <p:sp>
        <p:nvSpPr>
          <p:cNvPr id="9" name="Text 4"/>
          <p:cNvSpPr txBox="1"/>
          <p:nvPr/>
        </p:nvSpPr>
        <p:spPr>
          <a:xfrm>
            <a:off x="8017002" y="5943600"/>
            <a:ext cx="3291840" cy="365760"/>
          </a:xfrm>
          <a:prstGeom prst="rect">
            <a:avLst/>
          </a:prstGeom>
          <a:noFill/>
          <a:ln/>
        </p:spPr>
        <p:txBody>
          <a:bodyPr wrap="square" lIns="0" tIns="0" rIns="0" bIns="0" rtlCol="0" anchor="t"/>
          <a:lstStyle/>
          <a:p>
            <a:pPr algn="ctr" indent="0" marL="0">
              <a:buNone/>
            </a:pPr>
            <a:r>
              <a:rPr lang="en-US" sz="1600" dirty="0">
                <a:solidFill>
                  <a:schemeClr val="tx1"/>
                </a:solidFill>
              </a:rPr>
              <a:t>Change a limit</a:t>
            </a:r>
            <a:endParaRPr lang="en-US" sz="1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Be personalized</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Tailored analytics that turn complex data into actionable insights</a:t>
            </a:r>
            <a:endParaRPr lang="en-US" sz="1800" dirty="0"/>
          </a:p>
        </p:txBody>
      </p:sp>
      <p:pic>
        <p:nvPicPr>
          <p:cNvPr id="4" name="Image 0" descr="Hey Belfius showing spending analytics with a bar chart">    </p:cNvPr>
          <p:cNvPicPr>
            <a:picLocks noChangeAspect="1"/>
          </p:cNvPicPr>
          <p:nvPr/>
        </p:nvPicPr>
        <p:blipFill>
          <a:blip r:embed="rId1"/>
          <a:stretch>
            <a:fillRect/>
          </a:stretch>
        </p:blipFill>
        <p:spPr>
          <a:xfrm>
            <a:off x="822960" y="1783080"/>
            <a:ext cx="2990088" cy="4572000"/>
          </a:xfrm>
          <a:prstGeom prst="rect">
            <a:avLst/>
          </a:prstGeom>
        </p:spPr>
      </p:pic>
      <p:sp>
        <p:nvSpPr>
          <p:cNvPr id="5" name="Text 2"/>
          <p:cNvSpPr txBox="1"/>
          <p:nvPr/>
        </p:nvSpPr>
        <p:spPr>
          <a:xfrm>
            <a:off x="4572000" y="2011680"/>
            <a:ext cx="6949440" cy="1463040"/>
          </a:xfrm>
          <a:prstGeom prst="rect">
            <a:avLst/>
          </a:prstGeom>
          <a:noFill/>
          <a:ln/>
        </p:spPr>
        <p:txBody>
          <a:bodyPr wrap="square" lIns="0" tIns="0" rIns="0" bIns="0" rtlCol="0" anchor="t"/>
          <a:lstStyle/>
          <a:p>
            <a:pPr algn="l" indent="0" marL="0">
              <a:buNone/>
            </a:pPr>
            <a:r>
              <a:rPr lang="en-US" sz="2200" dirty="0">
                <a:solidFill>
                  <a:schemeClr val="tx1"/>
                </a:solidFill>
              </a:rPr>
              <a:t>Hey Belfius lets clients request tailored analytics and insights, making complex data understandable, relevant and actionable.</a:t>
            </a:r>
            <a:endParaRPr lang="en-US" sz="2200" dirty="0"/>
          </a:p>
        </p:txBody>
      </p:sp>
      <p:sp>
        <p:nvSpPr>
          <p:cNvPr id="6" name="Shape 3"/>
          <p:cNvSpPr/>
          <p:nvPr/>
        </p:nvSpPr>
        <p:spPr>
          <a:xfrm>
            <a:off x="4572000" y="3657600"/>
            <a:ext cx="6949440" cy="2377440"/>
          </a:xfrm>
          <a:prstGeom prst="roundRect">
            <a:avLst>
              <a:gd name="adj" fmla="val 5385"/>
            </a:avLst>
          </a:prstGeom>
          <a:solidFill>
            <a:schemeClr val="accent4"/>
          </a:solidFill>
          <a:ln/>
        </p:spPr>
      </p:sp>
      <p:sp>
        <p:nvSpPr>
          <p:cNvPr id="7" name="Text 4"/>
          <p:cNvSpPr txBox="1"/>
          <p:nvPr/>
        </p:nvSpPr>
        <p:spPr>
          <a:xfrm>
            <a:off x="4937760" y="3840480"/>
            <a:ext cx="6217920" cy="2103120"/>
          </a:xfrm>
          <a:prstGeom prst="rect">
            <a:avLst/>
          </a:prstGeom>
          <a:noFill/>
          <a:ln/>
        </p:spPr>
        <p:txBody>
          <a:bodyPr wrap="square" lIns="0" tIns="0" rIns="0" bIns="0" rtlCol="0" anchor="ctr"/>
          <a:lstStyle/>
          <a:p>
            <a:pPr algn="l" indent="0" marL="0">
              <a:spcAft>
                <a:spcPts val="1200"/>
              </a:spcAft>
              <a:buNone/>
            </a:pPr>
            <a:r>
              <a:rPr lang="en-US" sz="2000" i="1" dirty="0">
                <a:solidFill>
                  <a:schemeClr val="accent1"/>
                </a:solidFill>
              </a:rPr>
              <a:t>How much did I spend on … (shopping, bars &amp; restaurants, …)?</a:t>
            </a:r>
            <a:endParaRPr lang="en-US" sz="2000" dirty="0"/>
          </a:p>
          <a:p>
            <a:pPr algn="l" indent="0" marL="0">
              <a:spcAft>
                <a:spcPts val="1200"/>
              </a:spcAft>
              <a:buNone/>
            </a:pPr>
            <a:r>
              <a:rPr lang="en-US" sz="2000" i="1" dirty="0">
                <a:solidFill>
                  <a:schemeClr val="accent1"/>
                </a:solidFill>
              </a:rPr>
              <a:t>How much did I spend at … (point of sale, merchant, …)?</a:t>
            </a:r>
            <a:endParaRPr lang="en-US" sz="2000" dirty="0"/>
          </a:p>
          <a:p>
            <a:pPr algn="l" indent="0" marL="0">
              <a:buNone/>
            </a:pPr>
            <a:r>
              <a:rPr lang="en-US" sz="2000" i="1" dirty="0">
                <a:solidFill>
                  <a:schemeClr val="accent1"/>
                </a:solidFill>
              </a:rPr>
              <a:t>How much did I spend in a certain time frame?</a:t>
            </a:r>
            <a:endParaRPr lang="en-US" sz="20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So how do we make customer expectations reality?</a:t>
            </a:r>
            <a:endParaRPr lang="en-US" sz="3600" dirty="0"/>
          </a:p>
        </p:txBody>
      </p:sp>
      <p:sp>
        <p:nvSpPr>
          <p:cNvPr id="3" name="Text 1"/>
          <p:cNvSpPr txBox="1"/>
          <p:nvPr/>
        </p:nvSpPr>
        <p:spPr>
          <a:xfrm>
            <a:off x="822960" y="1965960"/>
            <a:ext cx="3566160" cy="365760"/>
          </a:xfrm>
          <a:prstGeom prst="rect">
            <a:avLst/>
          </a:prstGeom>
          <a:noFill/>
          <a:ln/>
        </p:spPr>
        <p:txBody>
          <a:bodyPr wrap="square" lIns="0" tIns="0" rIns="0" bIns="0" rtlCol="0" anchor="t"/>
          <a:lstStyle/>
          <a:p>
            <a:pPr algn="l" indent="0" marL="0">
              <a:buNone/>
            </a:pPr>
            <a:r>
              <a:rPr lang="en-US" sz="1800" dirty="0">
                <a:solidFill>
                  <a:schemeClr val="tx2"/>
                </a:solidFill>
                <a:latin typeface="+mj-lt" pitchFamily="34" charset="0"/>
                <a:ea typeface="+mj-lt" pitchFamily="34" charset="-122"/>
                <a:cs typeface="+mj-lt" pitchFamily="34" charset="-120"/>
              </a:rPr>
              <a:t>What demos give</a:t>
            </a:r>
            <a:endParaRPr lang="en-US" sz="1800" dirty="0"/>
          </a:p>
        </p:txBody>
      </p:sp>
      <p:sp>
        <p:nvSpPr>
          <p:cNvPr id="4" name="Text 2"/>
          <p:cNvSpPr txBox="1"/>
          <p:nvPr/>
        </p:nvSpPr>
        <p:spPr>
          <a:xfrm>
            <a:off x="7863840" y="1965960"/>
            <a:ext cx="3566160" cy="365760"/>
          </a:xfrm>
          <a:prstGeom prst="rect">
            <a:avLst/>
          </a:prstGeom>
          <a:noFill/>
          <a:ln/>
        </p:spPr>
        <p:txBody>
          <a:bodyPr wrap="square" lIns="0" tIns="0" rIns="0" bIns="0" rtlCol="0" anchor="t"/>
          <a:lstStyle/>
          <a:p>
            <a:pPr algn="l" indent="0" marL="0">
              <a:buNone/>
            </a:pPr>
            <a:r>
              <a:rPr lang="en-US" sz="1800" dirty="0">
                <a:solidFill>
                  <a:schemeClr val="accent1"/>
                </a:solidFill>
                <a:latin typeface="+mj-lt" pitchFamily="34" charset="0"/>
                <a:ea typeface="+mj-lt" pitchFamily="34" charset="-122"/>
                <a:cs typeface="+mj-lt" pitchFamily="34" charset="-120"/>
              </a:rPr>
              <a:t>What customers expect</a:t>
            </a:r>
            <a:endParaRPr lang="en-US" sz="1800" dirty="0"/>
          </a:p>
        </p:txBody>
      </p:sp>
      <p:sp>
        <p:nvSpPr>
          <p:cNvPr id="5" name="Text 3"/>
          <p:cNvSpPr/>
          <p:nvPr/>
        </p:nvSpPr>
        <p:spPr>
          <a:xfrm>
            <a:off x="822960" y="2468880"/>
            <a:ext cx="3566160" cy="731520"/>
          </a:xfrm>
          <a:prstGeom prst="roundRect">
            <a:avLst>
              <a:gd name="adj" fmla="val 15000"/>
            </a:avLst>
          </a:prstGeom>
          <a:solidFill>
            <a:schemeClr val="accent5"/>
          </a:solidFill>
          <a:ln w="12700">
            <a:solidFill>
              <a:schemeClr val="tx2"/>
            </a:solidFill>
          </a:ln>
        </p:spPr>
        <p:txBody>
          <a:bodyPr wrap="square" lIns="274320" tIns="38100" rIns="274320" bIns="38100" rtlCol="0" anchor="ctr"/>
          <a:lstStyle/>
          <a:p>
            <a:pPr algn="l" indent="0" marL="0">
              <a:buNone/>
            </a:pPr>
            <a:r>
              <a:rPr lang="en-US" sz="2000" dirty="0">
                <a:solidFill>
                  <a:schemeClr val="tx2"/>
                </a:solidFill>
                <a:latin typeface="+mj-lt" pitchFamily="34" charset="0"/>
                <a:ea typeface="+mj-lt" pitchFamily="34" charset="-122"/>
                <a:cs typeface="+mj-lt" pitchFamily="34" charset="-120"/>
              </a:rPr>
              <a:t>Plausible</a:t>
            </a:r>
            <a:endParaRPr lang="en-US" sz="2000" dirty="0"/>
          </a:p>
        </p:txBody>
      </p:sp>
      <p:sp>
        <p:nvSpPr>
          <p:cNvPr id="6" name="Text 4"/>
          <p:cNvSpPr/>
          <p:nvPr/>
        </p:nvSpPr>
        <p:spPr>
          <a:xfrm>
            <a:off x="7863840" y="2468880"/>
            <a:ext cx="3566160" cy="731520"/>
          </a:xfrm>
          <a:prstGeom prst="roundRect">
            <a:avLst>
              <a:gd name="adj" fmla="val 15000"/>
            </a:avLst>
          </a:prstGeom>
          <a:solidFill>
            <a:schemeClr val="accent2"/>
          </a:solidFill>
          <a:ln w="12700">
            <a:solidFill>
              <a:schemeClr val="accent1"/>
            </a:solidFill>
          </a:ln>
        </p:spPr>
        <p:txBody>
          <a:bodyPr wrap="square" lIns="274320" tIns="38100" rIns="274320" bIns="38100" rtlCol="0" anchor="ctr"/>
          <a:lstStyle/>
          <a:p>
            <a:pPr algn="l" indent="0" marL="0">
              <a:buNone/>
            </a:pPr>
            <a:r>
              <a:rPr lang="en-US" sz="2000" dirty="0">
                <a:solidFill>
                  <a:schemeClr val="accent1"/>
                </a:solidFill>
                <a:latin typeface="+mj-lt" pitchFamily="34" charset="0"/>
                <a:ea typeface="+mj-lt" pitchFamily="34" charset="-122"/>
                <a:cs typeface="+mj-lt" pitchFamily="34" charset="-120"/>
              </a:rPr>
              <a:t>True</a:t>
            </a:r>
            <a:endParaRPr lang="en-US" sz="2000" dirty="0"/>
          </a:p>
        </p:txBody>
      </p:sp>
      <p:sp>
        <p:nvSpPr>
          <p:cNvPr id="7" name="Shape 5"/>
          <p:cNvSpPr/>
          <p:nvPr/>
        </p:nvSpPr>
        <p:spPr>
          <a:xfrm>
            <a:off x="4526280" y="2834640"/>
            <a:ext cx="685800" cy="0"/>
          </a:xfrm>
          <a:prstGeom prst="line">
            <a:avLst/>
          </a:prstGeom>
          <a:noFill/>
          <a:ln w="15875">
            <a:solidFill>
              <a:schemeClr val="tx2"/>
            </a:solidFill>
            <a:prstDash val="dash"/>
          </a:ln>
        </p:spPr>
      </p:sp>
      <p:sp>
        <p:nvSpPr>
          <p:cNvPr id="8" name="Shape 6"/>
          <p:cNvSpPr/>
          <p:nvPr/>
        </p:nvSpPr>
        <p:spPr>
          <a:xfrm>
            <a:off x="6949440" y="2834640"/>
            <a:ext cx="777240" cy="0"/>
          </a:xfrm>
          <a:prstGeom prst="line">
            <a:avLst/>
          </a:prstGeom>
          <a:noFill/>
          <a:ln w="15875">
            <a:solidFill>
              <a:schemeClr val="tx2"/>
            </a:solidFill>
            <a:prstDash val="dash"/>
            <a:tailEnd type="triangle"/>
          </a:ln>
        </p:spPr>
      </p:sp>
      <p:sp>
        <p:nvSpPr>
          <p:cNvPr id="9" name="Text 7"/>
          <p:cNvSpPr/>
          <p:nvPr/>
        </p:nvSpPr>
        <p:spPr>
          <a:xfrm>
            <a:off x="822960" y="3429000"/>
            <a:ext cx="3566160" cy="731520"/>
          </a:xfrm>
          <a:prstGeom prst="roundRect">
            <a:avLst>
              <a:gd name="adj" fmla="val 15000"/>
            </a:avLst>
          </a:prstGeom>
          <a:solidFill>
            <a:schemeClr val="accent5"/>
          </a:solidFill>
          <a:ln w="12700">
            <a:solidFill>
              <a:schemeClr val="tx2"/>
            </a:solidFill>
          </a:ln>
        </p:spPr>
        <p:txBody>
          <a:bodyPr wrap="square" lIns="274320" tIns="38100" rIns="274320" bIns="38100" rtlCol="0" anchor="ctr"/>
          <a:lstStyle/>
          <a:p>
            <a:pPr algn="l" indent="0" marL="0">
              <a:buNone/>
            </a:pPr>
            <a:r>
              <a:rPr lang="en-US" sz="2000" dirty="0">
                <a:solidFill>
                  <a:schemeClr val="tx2"/>
                </a:solidFill>
                <a:latin typeface="+mj-lt" pitchFamily="34" charset="0"/>
                <a:ea typeface="+mj-lt" pitchFamily="34" charset="-122"/>
                <a:cs typeface="+mj-lt" pitchFamily="34" charset="-120"/>
              </a:rPr>
              <a:t>Can’t see you</a:t>
            </a:r>
            <a:endParaRPr lang="en-US" sz="2000" dirty="0"/>
          </a:p>
        </p:txBody>
      </p:sp>
      <p:sp>
        <p:nvSpPr>
          <p:cNvPr id="10" name="Text 8"/>
          <p:cNvSpPr/>
          <p:nvPr/>
        </p:nvSpPr>
        <p:spPr>
          <a:xfrm>
            <a:off x="7863840" y="3429000"/>
            <a:ext cx="3566160" cy="731520"/>
          </a:xfrm>
          <a:prstGeom prst="roundRect">
            <a:avLst>
              <a:gd name="adj" fmla="val 15000"/>
            </a:avLst>
          </a:prstGeom>
          <a:solidFill>
            <a:schemeClr val="accent2"/>
          </a:solidFill>
          <a:ln w="12700">
            <a:solidFill>
              <a:schemeClr val="accent1"/>
            </a:solidFill>
          </a:ln>
        </p:spPr>
        <p:txBody>
          <a:bodyPr wrap="square" lIns="274320" tIns="38100" rIns="274320" bIns="38100" rtlCol="0" anchor="ctr"/>
          <a:lstStyle/>
          <a:p>
            <a:pPr algn="l" indent="0" marL="0">
              <a:buNone/>
            </a:pPr>
            <a:r>
              <a:rPr lang="en-US" sz="2000" dirty="0">
                <a:solidFill>
                  <a:schemeClr val="accent1"/>
                </a:solidFill>
                <a:latin typeface="+mj-lt" pitchFamily="34" charset="0"/>
                <a:ea typeface="+mj-lt" pitchFamily="34" charset="-122"/>
                <a:cs typeface="+mj-lt" pitchFamily="34" charset="-120"/>
              </a:rPr>
              <a:t>About me</a:t>
            </a:r>
            <a:endParaRPr lang="en-US" sz="2000" dirty="0"/>
          </a:p>
        </p:txBody>
      </p:sp>
      <p:sp>
        <p:nvSpPr>
          <p:cNvPr id="11" name="Shape 9"/>
          <p:cNvSpPr/>
          <p:nvPr/>
        </p:nvSpPr>
        <p:spPr>
          <a:xfrm>
            <a:off x="4526280" y="3794760"/>
            <a:ext cx="685800" cy="0"/>
          </a:xfrm>
          <a:prstGeom prst="line">
            <a:avLst/>
          </a:prstGeom>
          <a:noFill/>
          <a:ln w="15875">
            <a:solidFill>
              <a:schemeClr val="tx2"/>
            </a:solidFill>
            <a:prstDash val="dash"/>
          </a:ln>
        </p:spPr>
      </p:sp>
      <p:sp>
        <p:nvSpPr>
          <p:cNvPr id="12" name="Shape 10"/>
          <p:cNvSpPr/>
          <p:nvPr/>
        </p:nvSpPr>
        <p:spPr>
          <a:xfrm>
            <a:off x="6949440" y="3794760"/>
            <a:ext cx="777240" cy="0"/>
          </a:xfrm>
          <a:prstGeom prst="line">
            <a:avLst/>
          </a:prstGeom>
          <a:noFill/>
          <a:ln w="15875">
            <a:solidFill>
              <a:schemeClr val="tx2"/>
            </a:solidFill>
            <a:prstDash val="dash"/>
            <a:tailEnd type="triangle"/>
          </a:ln>
        </p:spPr>
      </p:sp>
      <p:sp>
        <p:nvSpPr>
          <p:cNvPr id="13" name="Text 11"/>
          <p:cNvSpPr/>
          <p:nvPr/>
        </p:nvSpPr>
        <p:spPr>
          <a:xfrm>
            <a:off x="822960" y="4389120"/>
            <a:ext cx="3566160" cy="731520"/>
          </a:xfrm>
          <a:prstGeom prst="roundRect">
            <a:avLst>
              <a:gd name="adj" fmla="val 15000"/>
            </a:avLst>
          </a:prstGeom>
          <a:solidFill>
            <a:schemeClr val="accent5"/>
          </a:solidFill>
          <a:ln w="12700">
            <a:solidFill>
              <a:schemeClr val="tx2"/>
            </a:solidFill>
          </a:ln>
        </p:spPr>
        <p:txBody>
          <a:bodyPr wrap="square" lIns="274320" tIns="38100" rIns="274320" bIns="38100" rtlCol="0" anchor="ctr"/>
          <a:lstStyle/>
          <a:p>
            <a:pPr algn="l" indent="0" marL="0">
              <a:buNone/>
            </a:pPr>
            <a:r>
              <a:rPr lang="en-US" sz="2000" dirty="0">
                <a:solidFill>
                  <a:schemeClr val="tx2"/>
                </a:solidFill>
                <a:latin typeface="+mj-lt" pitchFamily="34" charset="0"/>
                <a:ea typeface="+mj-lt" pitchFamily="34" charset="-122"/>
                <a:cs typeface="+mj-lt" pitchFamily="34" charset="-120"/>
              </a:rPr>
              <a:t>Generic</a:t>
            </a:r>
            <a:endParaRPr lang="en-US" sz="2000" dirty="0"/>
          </a:p>
        </p:txBody>
      </p:sp>
      <p:sp>
        <p:nvSpPr>
          <p:cNvPr id="14" name="Text 12"/>
          <p:cNvSpPr/>
          <p:nvPr/>
        </p:nvSpPr>
        <p:spPr>
          <a:xfrm>
            <a:off x="7863840" y="4389120"/>
            <a:ext cx="3566160" cy="731520"/>
          </a:xfrm>
          <a:prstGeom prst="roundRect">
            <a:avLst>
              <a:gd name="adj" fmla="val 15000"/>
            </a:avLst>
          </a:prstGeom>
          <a:solidFill>
            <a:schemeClr val="accent2"/>
          </a:solidFill>
          <a:ln w="12700">
            <a:solidFill>
              <a:schemeClr val="accent1"/>
            </a:solidFill>
          </a:ln>
        </p:spPr>
        <p:txBody>
          <a:bodyPr wrap="square" lIns="274320" tIns="38100" rIns="274320" bIns="38100" rtlCol="0" anchor="ctr"/>
          <a:lstStyle/>
          <a:p>
            <a:pPr algn="l" indent="0" marL="0">
              <a:buNone/>
            </a:pPr>
            <a:r>
              <a:rPr lang="en-US" sz="2000" dirty="0">
                <a:solidFill>
                  <a:schemeClr val="accent1"/>
                </a:solidFill>
                <a:latin typeface="+mj-lt" pitchFamily="34" charset="0"/>
                <a:ea typeface="+mj-lt" pitchFamily="34" charset="-122"/>
                <a:cs typeface="+mj-lt" pitchFamily="34" charset="-120"/>
              </a:rPr>
              <a:t>Useful</a:t>
            </a:r>
            <a:endParaRPr lang="en-US" sz="2000" dirty="0"/>
          </a:p>
        </p:txBody>
      </p:sp>
      <p:sp>
        <p:nvSpPr>
          <p:cNvPr id="15" name="Shape 13"/>
          <p:cNvSpPr/>
          <p:nvPr/>
        </p:nvSpPr>
        <p:spPr>
          <a:xfrm>
            <a:off x="4526280" y="4754880"/>
            <a:ext cx="685800" cy="0"/>
          </a:xfrm>
          <a:prstGeom prst="line">
            <a:avLst/>
          </a:prstGeom>
          <a:noFill/>
          <a:ln w="15875">
            <a:solidFill>
              <a:schemeClr val="tx2"/>
            </a:solidFill>
            <a:prstDash val="dash"/>
          </a:ln>
        </p:spPr>
      </p:sp>
      <p:sp>
        <p:nvSpPr>
          <p:cNvPr id="16" name="Shape 14"/>
          <p:cNvSpPr/>
          <p:nvPr/>
        </p:nvSpPr>
        <p:spPr>
          <a:xfrm>
            <a:off x="6949440" y="4754880"/>
            <a:ext cx="777240" cy="0"/>
          </a:xfrm>
          <a:prstGeom prst="line">
            <a:avLst/>
          </a:prstGeom>
          <a:noFill/>
          <a:ln w="15875">
            <a:solidFill>
              <a:schemeClr val="tx2"/>
            </a:solidFill>
            <a:prstDash val="dash"/>
            <a:tailEnd type="triangle"/>
          </a:ln>
        </p:spPr>
      </p:sp>
      <p:sp>
        <p:nvSpPr>
          <p:cNvPr id="17" name="Text 15"/>
          <p:cNvSpPr/>
          <p:nvPr/>
        </p:nvSpPr>
        <p:spPr>
          <a:xfrm>
            <a:off x="822960" y="5349240"/>
            <a:ext cx="3566160" cy="731520"/>
          </a:xfrm>
          <a:prstGeom prst="roundRect">
            <a:avLst>
              <a:gd name="adj" fmla="val 15000"/>
            </a:avLst>
          </a:prstGeom>
          <a:solidFill>
            <a:schemeClr val="accent5"/>
          </a:solidFill>
          <a:ln w="12700">
            <a:solidFill>
              <a:schemeClr val="tx2"/>
            </a:solidFill>
          </a:ln>
        </p:spPr>
        <p:txBody>
          <a:bodyPr wrap="square" lIns="274320" tIns="38100" rIns="274320" bIns="38100" rtlCol="0" anchor="ctr"/>
          <a:lstStyle/>
          <a:p>
            <a:pPr algn="l" indent="0" marL="0">
              <a:buNone/>
            </a:pPr>
            <a:r>
              <a:rPr lang="en-US" sz="2000" dirty="0">
                <a:solidFill>
                  <a:schemeClr val="tx2"/>
                </a:solidFill>
                <a:latin typeface="+mj-lt" pitchFamily="34" charset="0"/>
                <a:ea typeface="+mj-lt" pitchFamily="34" charset="-122"/>
                <a:cs typeface="+mj-lt" pitchFamily="34" charset="-120"/>
              </a:rPr>
              <a:t>Can’t act</a:t>
            </a:r>
            <a:endParaRPr lang="en-US" sz="2000" dirty="0"/>
          </a:p>
        </p:txBody>
      </p:sp>
      <p:sp>
        <p:nvSpPr>
          <p:cNvPr id="18" name="Text 16"/>
          <p:cNvSpPr/>
          <p:nvPr/>
        </p:nvSpPr>
        <p:spPr>
          <a:xfrm>
            <a:off x="7863840" y="5349240"/>
            <a:ext cx="3566160" cy="731520"/>
          </a:xfrm>
          <a:prstGeom prst="roundRect">
            <a:avLst>
              <a:gd name="adj" fmla="val 15000"/>
            </a:avLst>
          </a:prstGeom>
          <a:solidFill>
            <a:schemeClr val="accent2"/>
          </a:solidFill>
          <a:ln w="12700">
            <a:solidFill>
              <a:schemeClr val="accent1"/>
            </a:solidFill>
          </a:ln>
        </p:spPr>
        <p:txBody>
          <a:bodyPr wrap="square" lIns="274320" tIns="38100" rIns="274320" bIns="38100" rtlCol="0" anchor="ctr"/>
          <a:lstStyle/>
          <a:p>
            <a:pPr algn="l" indent="0" marL="0">
              <a:buNone/>
            </a:pPr>
            <a:r>
              <a:rPr lang="en-US" sz="2000" dirty="0">
                <a:solidFill>
                  <a:schemeClr val="accent1"/>
                </a:solidFill>
                <a:latin typeface="+mj-lt" pitchFamily="34" charset="0"/>
                <a:ea typeface="+mj-lt" pitchFamily="34" charset="-122"/>
                <a:cs typeface="+mj-lt" pitchFamily="34" charset="-120"/>
              </a:rPr>
              <a:t>Done</a:t>
            </a:r>
            <a:endParaRPr lang="en-US" sz="2000" dirty="0"/>
          </a:p>
        </p:txBody>
      </p:sp>
      <p:sp>
        <p:nvSpPr>
          <p:cNvPr id="19" name="Shape 17"/>
          <p:cNvSpPr/>
          <p:nvPr/>
        </p:nvSpPr>
        <p:spPr>
          <a:xfrm>
            <a:off x="4526280" y="5715000"/>
            <a:ext cx="685800" cy="0"/>
          </a:xfrm>
          <a:prstGeom prst="line">
            <a:avLst/>
          </a:prstGeom>
          <a:noFill/>
          <a:ln w="15875">
            <a:solidFill>
              <a:schemeClr val="tx2"/>
            </a:solidFill>
            <a:prstDash val="dash"/>
          </a:ln>
        </p:spPr>
      </p:sp>
      <p:sp>
        <p:nvSpPr>
          <p:cNvPr id="20" name="Shape 18"/>
          <p:cNvSpPr/>
          <p:nvPr/>
        </p:nvSpPr>
        <p:spPr>
          <a:xfrm>
            <a:off x="6949440" y="5715000"/>
            <a:ext cx="777240" cy="0"/>
          </a:xfrm>
          <a:prstGeom prst="line">
            <a:avLst/>
          </a:prstGeom>
          <a:noFill/>
          <a:ln w="15875">
            <a:solidFill>
              <a:schemeClr val="tx2"/>
            </a:solidFill>
            <a:prstDash val="dash"/>
            <a:tailEnd type="triangle"/>
          </a:ln>
        </p:spPr>
      </p:sp>
      <p:sp>
        <p:nvSpPr>
          <p:cNvPr id="21" name="Text 19"/>
          <p:cNvSpPr txBox="1"/>
          <p:nvPr/>
        </p:nvSpPr>
        <p:spPr>
          <a:xfrm>
            <a:off x="5212080" y="3063240"/>
            <a:ext cx="1737360" cy="1920240"/>
          </a:xfrm>
          <a:prstGeom prst="rect">
            <a:avLst/>
          </a:prstGeom>
          <a:noFill/>
          <a:ln/>
        </p:spPr>
        <p:txBody>
          <a:bodyPr wrap="square" lIns="0" tIns="0" rIns="0" bIns="0" rtlCol="0" anchor="ctr"/>
          <a:lstStyle/>
          <a:p>
            <a:pPr algn="ctr" indent="0" marL="0">
              <a:buNone/>
            </a:pPr>
            <a:r>
              <a:rPr lang="en-US" sz="11000" dirty="0">
                <a:solidFill>
                  <a:schemeClr val="accent1"/>
                </a:solidFill>
                <a:latin typeface="+mj-lt" pitchFamily="34" charset="0"/>
                <a:ea typeface="+mj-lt" pitchFamily="34" charset="-122"/>
                <a:cs typeface="+mj-lt" pitchFamily="34" charset="-120"/>
              </a:rPr>
              <a:t>?</a:t>
            </a:r>
            <a:endParaRPr lang="en-US" sz="110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lIns="0" tIns="0" rIns="0" bIns="0" rtlCol="0" anchor="ctr"/>
          <a:lstStyle/>
          <a:p>
            <a:pPr algn="l" indent="0" marL="0">
              <a:buNone/>
            </a:pPr>
            <a:r>
              <a:rPr lang="en-US" sz="5200" dirty="0">
                <a:solidFill>
                  <a:schemeClr val="accent1"/>
                </a:solidFill>
              </a:rPr>
              <a:t>The LLM is not the architecture</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lIns="0" tIns="0" rIns="0" bIns="0" rtlCol="0" anchor="ctr"/>
          <a:lstStyle/>
          <a:p>
            <a:pPr algn="l" indent="0" marL="0">
              <a:buNone/>
            </a:pPr>
            <a:r>
              <a:rPr lang="en-US" sz="5200" dirty="0">
                <a:solidFill>
                  <a:schemeClr val="accent5"/>
                </a:solidFill>
              </a:rPr>
              <a:t>The LLM is not the architecture</a:t>
            </a:r>
            <a:endParaRPr lang="en-US" sz="5200" dirty="0"/>
          </a:p>
          <a:p>
            <a:pPr algn="l" indent="0" marL="0">
              <a:buNone/>
            </a:pPr>
            <a:r>
              <a:rPr lang="en-US" sz="5200" dirty="0">
                <a:solidFill>
                  <a:schemeClr val="accent1"/>
                </a:solidFill>
              </a:rPr>
              <a:t>The harness is</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The harness turns intelligence into trusted behavior</a:t>
            </a:r>
            <a:endParaRPr lang="en-US" sz="3600" dirty="0"/>
          </a:p>
        </p:txBody>
      </p:sp>
      <p:sp>
        <p:nvSpPr>
          <p:cNvPr id="3" name="Text 1"/>
          <p:cNvSpPr/>
          <p:nvPr/>
        </p:nvSpPr>
        <p:spPr>
          <a:xfrm>
            <a:off x="3200400" y="1783080"/>
            <a:ext cx="1737360" cy="457200"/>
          </a:xfrm>
          <a:prstGeom prst="roundRect">
            <a:avLst>
              <a:gd name="adj" fmla="val 16000"/>
            </a:avLst>
          </a:prstGeom>
          <a:solidFill>
            <a:schemeClr val="tx2"/>
          </a:solidFill>
          <a:ln/>
        </p:spPr>
        <p:txBody>
          <a:bodyPr wrap="square" lIns="73152" tIns="38100" rIns="73152" bIns="38100" rtlCol="0" anchor="ctr"/>
          <a:lstStyle/>
          <a:p>
            <a:pPr algn="ctr" indent="0" marL="0">
              <a:buNone/>
            </a:pPr>
            <a:r>
              <a:rPr lang="en-US" sz="1400" dirty="0">
                <a:solidFill>
                  <a:schemeClr val="bg1"/>
                </a:solidFill>
                <a:latin typeface="+mj-lt" pitchFamily="34" charset="0"/>
                <a:ea typeface="+mj-lt" pitchFamily="34" charset="-122"/>
                <a:cs typeface="+mj-lt" pitchFamily="34" charset="-120"/>
              </a:rPr>
              <a:t>Customer</a:t>
            </a:r>
            <a:endParaRPr lang="en-US" sz="1400" dirty="0"/>
          </a:p>
        </p:txBody>
      </p:sp>
      <p:sp>
        <p:nvSpPr>
          <p:cNvPr id="4" name="Shape 2"/>
          <p:cNvSpPr/>
          <p:nvPr/>
        </p:nvSpPr>
        <p:spPr>
          <a:xfrm>
            <a:off x="548640" y="2560320"/>
            <a:ext cx="7040880" cy="3429000"/>
          </a:xfrm>
          <a:prstGeom prst="roundRect">
            <a:avLst>
              <a:gd name="adj" fmla="val 7467"/>
            </a:avLst>
          </a:prstGeom>
          <a:noFill/>
          <a:ln w="15875">
            <a:solidFill>
              <a:schemeClr val="tx2"/>
            </a:solidFill>
            <a:prstDash val="dash"/>
          </a:ln>
        </p:spPr>
      </p:sp>
      <p:sp>
        <p:nvSpPr>
          <p:cNvPr id="5" name="Text 3"/>
          <p:cNvSpPr/>
          <p:nvPr/>
        </p:nvSpPr>
        <p:spPr>
          <a:xfrm>
            <a:off x="868680" y="2788920"/>
            <a:ext cx="2286000" cy="731520"/>
          </a:xfrm>
          <a:prstGeom prst="roundRect">
            <a:avLst>
              <a:gd name="adj" fmla="val 12500"/>
            </a:avLst>
          </a:prstGeom>
          <a:solidFill>
            <a:schemeClr val="accent1"/>
          </a:solidFill>
          <a:ln/>
        </p:spPr>
        <p:txBody>
          <a:bodyPr wrap="square" lIns="73152" tIns="38100" rIns="73152" bIns="38100" rtlCol="0" anchor="ctr"/>
          <a:lstStyle/>
          <a:p>
            <a:pPr algn="ctr" indent="0" marL="0">
              <a:buNone/>
            </a:pPr>
            <a:r>
              <a:rPr lang="en-US" sz="1700" dirty="0">
                <a:solidFill>
                  <a:schemeClr val="bg1"/>
                </a:solidFill>
                <a:latin typeface="+mj-lt" pitchFamily="34" charset="0"/>
                <a:ea typeface="+mj-lt" pitchFamily="34" charset="-122"/>
                <a:cs typeface="+mj-lt" pitchFamily="34" charset="-120"/>
              </a:rPr>
              <a:t>Interpret</a:t>
            </a:r>
            <a:endParaRPr lang="en-US" sz="1700" dirty="0"/>
          </a:p>
          <a:p>
            <a:pPr algn="ctr" indent="0" marL="0">
              <a:buNone/>
            </a:pPr>
            <a:r>
              <a:rPr lang="en-US" sz="1200" dirty="0">
                <a:solidFill>
                  <a:schemeClr val="bg1"/>
                </a:solidFill>
              </a:rPr>
              <a:t>The model’s ears</a:t>
            </a:r>
            <a:endParaRPr lang="en-US" sz="1700" dirty="0"/>
          </a:p>
        </p:txBody>
      </p:sp>
      <p:sp>
        <p:nvSpPr>
          <p:cNvPr id="6" name="Text 4"/>
          <p:cNvSpPr/>
          <p:nvPr/>
        </p:nvSpPr>
        <p:spPr>
          <a:xfrm>
            <a:off x="4983480" y="2788920"/>
            <a:ext cx="2286000" cy="731520"/>
          </a:xfrm>
          <a:prstGeom prst="roundRect">
            <a:avLst>
              <a:gd name="adj" fmla="val 12500"/>
            </a:avLst>
          </a:prstGeom>
          <a:solidFill>
            <a:schemeClr val="accent1"/>
          </a:solidFill>
          <a:ln/>
        </p:spPr>
        <p:txBody>
          <a:bodyPr wrap="square" lIns="73152" tIns="38100" rIns="73152" bIns="38100" rtlCol="0" anchor="ctr"/>
          <a:lstStyle/>
          <a:p>
            <a:pPr algn="ctr" indent="0" marL="0">
              <a:buNone/>
            </a:pPr>
            <a:r>
              <a:rPr lang="en-US" sz="1700" dirty="0">
                <a:solidFill>
                  <a:schemeClr val="bg1"/>
                </a:solidFill>
                <a:latin typeface="+mj-lt" pitchFamily="34" charset="0"/>
                <a:ea typeface="+mj-lt" pitchFamily="34" charset="-122"/>
                <a:cs typeface="+mj-lt" pitchFamily="34" charset="-120"/>
              </a:rPr>
              <a:t>Compose</a:t>
            </a:r>
            <a:endParaRPr lang="en-US" sz="1700" dirty="0"/>
          </a:p>
          <a:p>
            <a:pPr algn="ctr" indent="0" marL="0">
              <a:buNone/>
            </a:pPr>
            <a:r>
              <a:rPr lang="en-US" sz="1200" dirty="0">
                <a:solidFill>
                  <a:schemeClr val="bg1"/>
                </a:solidFill>
              </a:rPr>
              <a:t>The model’s voice</a:t>
            </a:r>
            <a:endParaRPr lang="en-US" sz="1700" dirty="0"/>
          </a:p>
        </p:txBody>
      </p:sp>
      <p:sp>
        <p:nvSpPr>
          <p:cNvPr id="7" name="Shape 5"/>
          <p:cNvSpPr/>
          <p:nvPr/>
        </p:nvSpPr>
        <p:spPr>
          <a:xfrm>
            <a:off x="3566160" y="2240280"/>
            <a:ext cx="0" cy="256032"/>
          </a:xfrm>
          <a:prstGeom prst="line">
            <a:avLst/>
          </a:prstGeom>
          <a:noFill/>
          <a:ln w="19050">
            <a:solidFill>
              <a:schemeClr val="accent1"/>
            </a:solidFill>
            <a:prstDash val="solid"/>
          </a:ln>
        </p:spPr>
      </p:sp>
      <p:sp>
        <p:nvSpPr>
          <p:cNvPr id="8" name="Shape 6"/>
          <p:cNvSpPr/>
          <p:nvPr/>
        </p:nvSpPr>
        <p:spPr>
          <a:xfrm flipH="1">
            <a:off x="2011680" y="2496312"/>
            <a:ext cx="1554480" cy="0"/>
          </a:xfrm>
          <a:prstGeom prst="line">
            <a:avLst/>
          </a:prstGeom>
          <a:noFill/>
          <a:ln w="19050">
            <a:solidFill>
              <a:schemeClr val="accent1"/>
            </a:solidFill>
            <a:prstDash val="solid"/>
          </a:ln>
        </p:spPr>
      </p:sp>
      <p:sp>
        <p:nvSpPr>
          <p:cNvPr id="9" name="Shape 7"/>
          <p:cNvSpPr/>
          <p:nvPr/>
        </p:nvSpPr>
        <p:spPr>
          <a:xfrm>
            <a:off x="2011680" y="2496312"/>
            <a:ext cx="0" cy="292608"/>
          </a:xfrm>
          <a:prstGeom prst="line">
            <a:avLst/>
          </a:prstGeom>
          <a:noFill/>
          <a:ln w="19050">
            <a:solidFill>
              <a:schemeClr val="accent1"/>
            </a:solidFill>
            <a:prstDash val="solid"/>
            <a:tailEnd type="triangle"/>
          </a:ln>
        </p:spPr>
      </p:sp>
      <p:sp>
        <p:nvSpPr>
          <p:cNvPr id="10" name="Shape 8"/>
          <p:cNvSpPr/>
          <p:nvPr/>
        </p:nvSpPr>
        <p:spPr>
          <a:xfrm flipV="1">
            <a:off x="6126480" y="2496312"/>
            <a:ext cx="0" cy="292608"/>
          </a:xfrm>
          <a:prstGeom prst="line">
            <a:avLst/>
          </a:prstGeom>
          <a:noFill/>
          <a:ln w="19050">
            <a:solidFill>
              <a:schemeClr val="accent1"/>
            </a:solidFill>
            <a:prstDash val="solid"/>
          </a:ln>
        </p:spPr>
      </p:sp>
      <p:sp>
        <p:nvSpPr>
          <p:cNvPr id="11" name="Shape 9"/>
          <p:cNvSpPr/>
          <p:nvPr/>
        </p:nvSpPr>
        <p:spPr>
          <a:xfrm flipH="1">
            <a:off x="4572000" y="2496312"/>
            <a:ext cx="1554480" cy="0"/>
          </a:xfrm>
          <a:prstGeom prst="line">
            <a:avLst/>
          </a:prstGeom>
          <a:noFill/>
          <a:ln w="19050">
            <a:solidFill>
              <a:schemeClr val="accent1"/>
            </a:solidFill>
            <a:prstDash val="solid"/>
          </a:ln>
        </p:spPr>
      </p:sp>
      <p:sp>
        <p:nvSpPr>
          <p:cNvPr id="12" name="Shape 10"/>
          <p:cNvSpPr/>
          <p:nvPr/>
        </p:nvSpPr>
        <p:spPr>
          <a:xfrm flipV="1">
            <a:off x="4572000" y="2240280"/>
            <a:ext cx="0" cy="256032"/>
          </a:xfrm>
          <a:prstGeom prst="line">
            <a:avLst/>
          </a:prstGeom>
          <a:noFill/>
          <a:ln w="19050">
            <a:solidFill>
              <a:schemeClr val="accent1"/>
            </a:solidFill>
            <a:prstDash val="solid"/>
            <a:tailEnd type="triangle"/>
          </a:ln>
        </p:spPr>
      </p:sp>
      <p:sp>
        <p:nvSpPr>
          <p:cNvPr id="13" name="Shape 11"/>
          <p:cNvSpPr/>
          <p:nvPr/>
        </p:nvSpPr>
        <p:spPr>
          <a:xfrm>
            <a:off x="3154680" y="3154680"/>
            <a:ext cx="1828800" cy="0"/>
          </a:xfrm>
          <a:prstGeom prst="line">
            <a:avLst/>
          </a:prstGeom>
          <a:noFill/>
          <a:ln w="19050">
            <a:solidFill>
              <a:schemeClr val="accent1"/>
            </a:solidFill>
            <a:prstDash val="solid"/>
            <a:tailEnd type="triangle"/>
          </a:ln>
        </p:spPr>
      </p:sp>
      <p:sp>
        <p:nvSpPr>
          <p:cNvPr id="14" name="Shape 12"/>
          <p:cNvSpPr/>
          <p:nvPr/>
        </p:nvSpPr>
        <p:spPr>
          <a:xfrm>
            <a:off x="777240" y="3794760"/>
            <a:ext cx="6583680" cy="0"/>
          </a:xfrm>
          <a:prstGeom prst="line">
            <a:avLst/>
          </a:prstGeom>
          <a:noFill/>
          <a:ln w="12700">
            <a:solidFill>
              <a:schemeClr val="tx2"/>
            </a:solidFill>
            <a:prstDash val="dash"/>
          </a:ln>
        </p:spPr>
      </p:sp>
      <p:sp>
        <p:nvSpPr>
          <p:cNvPr id="15" name="Text 13"/>
          <p:cNvSpPr txBox="1"/>
          <p:nvPr/>
        </p:nvSpPr>
        <p:spPr>
          <a:xfrm>
            <a:off x="777240" y="3547872"/>
            <a:ext cx="2011680" cy="228600"/>
          </a:xfrm>
          <a:prstGeom prst="rect">
            <a:avLst/>
          </a:prstGeom>
          <a:noFill/>
          <a:ln/>
        </p:spPr>
        <p:txBody>
          <a:bodyPr wrap="square" lIns="0" tIns="0" rIns="0" bIns="0" rtlCol="0" anchor="b"/>
          <a:lstStyle/>
          <a:p>
            <a:pPr algn="l" indent="0" marL="0">
              <a:buNone/>
            </a:pPr>
            <a:r>
              <a:rPr lang="en-US" sz="1200" dirty="0">
                <a:solidFill>
                  <a:schemeClr val="accent6"/>
                </a:solidFill>
              </a:rPr>
              <a:t>Model owns the words</a:t>
            </a:r>
            <a:endParaRPr lang="en-US" sz="1200" dirty="0"/>
          </a:p>
        </p:txBody>
      </p:sp>
      <p:sp>
        <p:nvSpPr>
          <p:cNvPr id="16" name="Text 14"/>
          <p:cNvSpPr txBox="1"/>
          <p:nvPr/>
        </p:nvSpPr>
        <p:spPr>
          <a:xfrm>
            <a:off x="777240" y="3840480"/>
            <a:ext cx="2011680" cy="228600"/>
          </a:xfrm>
          <a:prstGeom prst="rect">
            <a:avLst/>
          </a:prstGeom>
          <a:noFill/>
          <a:ln/>
        </p:spPr>
        <p:txBody>
          <a:bodyPr wrap="square" lIns="0" tIns="0" rIns="0" bIns="0" rtlCol="0" anchor="t"/>
          <a:lstStyle/>
          <a:p>
            <a:pPr algn="l" indent="0" marL="0">
              <a:buNone/>
            </a:pPr>
            <a:r>
              <a:rPr lang="en-US" sz="1200" dirty="0">
                <a:solidFill>
                  <a:schemeClr val="accent6"/>
                </a:solidFill>
              </a:rPr>
              <a:t>Belfius owns the facts</a:t>
            </a:r>
            <a:endParaRPr lang="en-US" sz="1200" dirty="0"/>
          </a:p>
        </p:txBody>
      </p:sp>
      <p:sp>
        <p:nvSpPr>
          <p:cNvPr id="17" name="Text 15"/>
          <p:cNvSpPr/>
          <p:nvPr/>
        </p:nvSpPr>
        <p:spPr>
          <a:xfrm>
            <a:off x="3154680" y="3977640"/>
            <a:ext cx="1828800" cy="731520"/>
          </a:xfrm>
          <a:prstGeom prst="roundRect">
            <a:avLst>
              <a:gd name="adj" fmla="val 12500"/>
            </a:avLst>
          </a:prstGeom>
          <a:solidFill>
            <a:schemeClr val="accent1"/>
          </a:solidFill>
          <a:ln/>
        </p:spPr>
        <p:txBody>
          <a:bodyPr wrap="square" lIns="73152" tIns="38100" rIns="73152" bIns="38100" rtlCol="0" anchor="ctr"/>
          <a:lstStyle/>
          <a:p>
            <a:pPr algn="ctr" indent="0" marL="0">
              <a:buNone/>
            </a:pPr>
            <a:r>
              <a:rPr lang="en-US" sz="1700" dirty="0">
                <a:solidFill>
                  <a:schemeClr val="bg1"/>
                </a:solidFill>
                <a:latin typeface="+mj-lt" pitchFamily="34" charset="0"/>
                <a:ea typeface="+mj-lt" pitchFamily="34" charset="-122"/>
                <a:cs typeface="+mj-lt" pitchFamily="34" charset="-120"/>
              </a:rPr>
              <a:t>Orchestrate</a:t>
            </a:r>
            <a:endParaRPr lang="en-US" sz="1700" dirty="0"/>
          </a:p>
          <a:p>
            <a:pPr algn="ctr" indent="0" marL="0">
              <a:buNone/>
            </a:pPr>
            <a:r>
              <a:rPr lang="en-US" sz="1200" dirty="0">
                <a:solidFill>
                  <a:schemeClr val="bg1"/>
                </a:solidFill>
              </a:rPr>
              <a:t>Picks the right door</a:t>
            </a:r>
            <a:endParaRPr lang="en-US" sz="1700" dirty="0"/>
          </a:p>
        </p:txBody>
      </p:sp>
      <p:sp>
        <p:nvSpPr>
          <p:cNvPr id="18" name="Shape 16"/>
          <p:cNvSpPr/>
          <p:nvPr/>
        </p:nvSpPr>
        <p:spPr>
          <a:xfrm>
            <a:off x="2834640" y="3520440"/>
            <a:ext cx="0" cy="822960"/>
          </a:xfrm>
          <a:prstGeom prst="line">
            <a:avLst/>
          </a:prstGeom>
          <a:noFill/>
          <a:ln w="19050">
            <a:solidFill>
              <a:schemeClr val="accent1"/>
            </a:solidFill>
            <a:prstDash val="solid"/>
          </a:ln>
        </p:spPr>
      </p:sp>
      <p:sp>
        <p:nvSpPr>
          <p:cNvPr id="19" name="Shape 17"/>
          <p:cNvSpPr/>
          <p:nvPr/>
        </p:nvSpPr>
        <p:spPr>
          <a:xfrm>
            <a:off x="2834640" y="4343400"/>
            <a:ext cx="320040" cy="0"/>
          </a:xfrm>
          <a:prstGeom prst="line">
            <a:avLst/>
          </a:prstGeom>
          <a:noFill/>
          <a:ln w="19050">
            <a:solidFill>
              <a:schemeClr val="accent1"/>
            </a:solidFill>
            <a:prstDash val="solid"/>
            <a:tailEnd type="triangle"/>
          </a:ln>
        </p:spPr>
      </p:sp>
      <p:sp>
        <p:nvSpPr>
          <p:cNvPr id="20" name="Shape 18"/>
          <p:cNvSpPr/>
          <p:nvPr/>
        </p:nvSpPr>
        <p:spPr>
          <a:xfrm>
            <a:off x="4983480" y="4343400"/>
            <a:ext cx="320040" cy="0"/>
          </a:xfrm>
          <a:prstGeom prst="line">
            <a:avLst/>
          </a:prstGeom>
          <a:noFill/>
          <a:ln w="19050">
            <a:solidFill>
              <a:schemeClr val="accent1"/>
            </a:solidFill>
            <a:prstDash val="solid"/>
          </a:ln>
        </p:spPr>
      </p:sp>
      <p:sp>
        <p:nvSpPr>
          <p:cNvPr id="21" name="Shape 19"/>
          <p:cNvSpPr/>
          <p:nvPr/>
        </p:nvSpPr>
        <p:spPr>
          <a:xfrm flipV="1">
            <a:off x="5303520" y="3520440"/>
            <a:ext cx="0" cy="822960"/>
          </a:xfrm>
          <a:prstGeom prst="line">
            <a:avLst/>
          </a:prstGeom>
          <a:noFill/>
          <a:ln w="19050">
            <a:solidFill>
              <a:schemeClr val="accent1"/>
            </a:solidFill>
            <a:prstDash val="solid"/>
            <a:tailEnd type="triangle"/>
          </a:ln>
        </p:spPr>
      </p:sp>
      <p:sp>
        <p:nvSpPr>
          <p:cNvPr id="22" name="Text 20"/>
          <p:cNvSpPr/>
          <p:nvPr/>
        </p:nvSpPr>
        <p:spPr>
          <a:xfrm>
            <a:off x="777240" y="5029200"/>
            <a:ext cx="1508760" cy="685800"/>
          </a:xfrm>
          <a:prstGeom prst="roundRect">
            <a:avLst>
              <a:gd name="adj" fmla="val 13333"/>
            </a:avLst>
          </a:prstGeom>
          <a:solidFill>
            <a:schemeClr val="accent2"/>
          </a:solidFill>
          <a:ln w="15875">
            <a:solidFill>
              <a:schemeClr val="accent1"/>
            </a:solidFill>
          </a:ln>
        </p:spPr>
        <p:txBody>
          <a:bodyPr wrap="square" lIns="73152" tIns="38100" rIns="73152" bIns="38100" rtlCol="0" anchor="ctr"/>
          <a:lstStyle/>
          <a:p>
            <a:pPr algn="ctr" indent="0" marL="0">
              <a:buNone/>
            </a:pPr>
            <a:r>
              <a:rPr lang="en-US" sz="1500" dirty="0">
                <a:solidFill>
                  <a:schemeClr val="accent1"/>
                </a:solidFill>
                <a:latin typeface="+mj-lt" pitchFamily="34" charset="0"/>
                <a:ea typeface="+mj-lt" pitchFamily="34" charset="-122"/>
                <a:cs typeface="+mj-lt" pitchFamily="34" charset="-120"/>
              </a:rPr>
              <a:t>Know</a:t>
            </a:r>
            <a:endParaRPr lang="en-US" sz="1500" dirty="0"/>
          </a:p>
          <a:p>
            <a:pPr algn="ctr" indent="0" marL="0">
              <a:buNone/>
            </a:pPr>
            <a:r>
              <a:rPr lang="en-US" sz="1200" dirty="0">
                <a:solidFill>
                  <a:schemeClr val="tx2"/>
                </a:solidFill>
              </a:rPr>
              <a:t>It’s true</a:t>
            </a:r>
            <a:endParaRPr lang="en-US" sz="1500" dirty="0"/>
          </a:p>
        </p:txBody>
      </p:sp>
      <p:sp>
        <p:nvSpPr>
          <p:cNvPr id="23" name="Shape 21"/>
          <p:cNvSpPr/>
          <p:nvPr/>
        </p:nvSpPr>
        <p:spPr>
          <a:xfrm>
            <a:off x="4069080" y="4709160"/>
            <a:ext cx="0" cy="182880"/>
          </a:xfrm>
          <a:prstGeom prst="line">
            <a:avLst/>
          </a:prstGeom>
          <a:noFill/>
          <a:ln w="15875">
            <a:solidFill>
              <a:schemeClr val="accent1"/>
            </a:solidFill>
            <a:prstDash val="solid"/>
          </a:ln>
        </p:spPr>
      </p:sp>
      <p:sp>
        <p:nvSpPr>
          <p:cNvPr id="24" name="Shape 22"/>
          <p:cNvSpPr/>
          <p:nvPr/>
        </p:nvSpPr>
        <p:spPr>
          <a:xfrm flipH="1">
            <a:off x="1531620" y="4892040"/>
            <a:ext cx="2537460" cy="0"/>
          </a:xfrm>
          <a:prstGeom prst="line">
            <a:avLst/>
          </a:prstGeom>
          <a:noFill/>
          <a:ln w="15875">
            <a:solidFill>
              <a:schemeClr val="accent1"/>
            </a:solidFill>
            <a:prstDash val="solid"/>
          </a:ln>
        </p:spPr>
      </p:sp>
      <p:sp>
        <p:nvSpPr>
          <p:cNvPr id="25" name="Shape 23"/>
          <p:cNvSpPr/>
          <p:nvPr/>
        </p:nvSpPr>
        <p:spPr>
          <a:xfrm>
            <a:off x="1531620" y="4892040"/>
            <a:ext cx="0" cy="137160"/>
          </a:xfrm>
          <a:prstGeom prst="line">
            <a:avLst/>
          </a:prstGeom>
          <a:noFill/>
          <a:ln w="15875">
            <a:solidFill>
              <a:schemeClr val="accent1"/>
            </a:solidFill>
            <a:prstDash val="solid"/>
            <a:tailEnd type="triangle"/>
          </a:ln>
        </p:spPr>
      </p:sp>
      <p:sp>
        <p:nvSpPr>
          <p:cNvPr id="26" name="Text 24"/>
          <p:cNvSpPr/>
          <p:nvPr/>
        </p:nvSpPr>
        <p:spPr>
          <a:xfrm>
            <a:off x="2468880" y="5029200"/>
            <a:ext cx="1508760" cy="685800"/>
          </a:xfrm>
          <a:prstGeom prst="roundRect">
            <a:avLst>
              <a:gd name="adj" fmla="val 13333"/>
            </a:avLst>
          </a:prstGeom>
          <a:solidFill>
            <a:schemeClr val="accent2"/>
          </a:solidFill>
          <a:ln w="15875">
            <a:solidFill>
              <a:schemeClr val="accent1"/>
            </a:solidFill>
          </a:ln>
        </p:spPr>
        <p:txBody>
          <a:bodyPr wrap="square" lIns="73152" tIns="38100" rIns="73152" bIns="38100" rtlCol="0" anchor="ctr"/>
          <a:lstStyle/>
          <a:p>
            <a:pPr algn="ctr" indent="0" marL="0">
              <a:buNone/>
            </a:pPr>
            <a:r>
              <a:rPr lang="en-US" sz="1500" dirty="0">
                <a:solidFill>
                  <a:schemeClr val="accent1"/>
                </a:solidFill>
                <a:latin typeface="+mj-lt" pitchFamily="34" charset="0"/>
                <a:ea typeface="+mj-lt" pitchFamily="34" charset="-122"/>
                <a:cs typeface="+mj-lt" pitchFamily="34" charset="-120"/>
              </a:rPr>
              <a:t>Understand</a:t>
            </a:r>
            <a:endParaRPr lang="en-US" sz="1500" dirty="0"/>
          </a:p>
          <a:p>
            <a:pPr algn="ctr" indent="0" marL="0">
              <a:buNone/>
            </a:pPr>
            <a:r>
              <a:rPr lang="en-US" sz="1200" dirty="0">
                <a:solidFill>
                  <a:schemeClr val="tx2"/>
                </a:solidFill>
              </a:rPr>
              <a:t>It’s about me</a:t>
            </a:r>
            <a:endParaRPr lang="en-US" sz="1500" dirty="0"/>
          </a:p>
        </p:txBody>
      </p:sp>
      <p:sp>
        <p:nvSpPr>
          <p:cNvPr id="27" name="Shape 25"/>
          <p:cNvSpPr/>
          <p:nvPr/>
        </p:nvSpPr>
        <p:spPr>
          <a:xfrm>
            <a:off x="4069080" y="4709160"/>
            <a:ext cx="0" cy="182880"/>
          </a:xfrm>
          <a:prstGeom prst="line">
            <a:avLst/>
          </a:prstGeom>
          <a:noFill/>
          <a:ln w="15875">
            <a:solidFill>
              <a:schemeClr val="accent1"/>
            </a:solidFill>
            <a:prstDash val="solid"/>
          </a:ln>
        </p:spPr>
      </p:sp>
      <p:sp>
        <p:nvSpPr>
          <p:cNvPr id="28" name="Shape 26"/>
          <p:cNvSpPr/>
          <p:nvPr/>
        </p:nvSpPr>
        <p:spPr>
          <a:xfrm flipH="1">
            <a:off x="3223260" y="4892040"/>
            <a:ext cx="845820" cy="0"/>
          </a:xfrm>
          <a:prstGeom prst="line">
            <a:avLst/>
          </a:prstGeom>
          <a:noFill/>
          <a:ln w="15875">
            <a:solidFill>
              <a:schemeClr val="accent1"/>
            </a:solidFill>
            <a:prstDash val="solid"/>
          </a:ln>
        </p:spPr>
      </p:sp>
      <p:sp>
        <p:nvSpPr>
          <p:cNvPr id="29" name="Shape 27"/>
          <p:cNvSpPr/>
          <p:nvPr/>
        </p:nvSpPr>
        <p:spPr>
          <a:xfrm>
            <a:off x="3223260" y="4892040"/>
            <a:ext cx="0" cy="137160"/>
          </a:xfrm>
          <a:prstGeom prst="line">
            <a:avLst/>
          </a:prstGeom>
          <a:noFill/>
          <a:ln w="15875">
            <a:solidFill>
              <a:schemeClr val="accent1"/>
            </a:solidFill>
            <a:prstDash val="solid"/>
            <a:tailEnd type="triangle"/>
          </a:ln>
        </p:spPr>
      </p:sp>
      <p:sp>
        <p:nvSpPr>
          <p:cNvPr id="30" name="Text 28"/>
          <p:cNvSpPr/>
          <p:nvPr/>
        </p:nvSpPr>
        <p:spPr>
          <a:xfrm>
            <a:off x="4160520" y="5029200"/>
            <a:ext cx="1508760" cy="685800"/>
          </a:xfrm>
          <a:prstGeom prst="roundRect">
            <a:avLst>
              <a:gd name="adj" fmla="val 13333"/>
            </a:avLst>
          </a:prstGeom>
          <a:solidFill>
            <a:schemeClr val="accent2"/>
          </a:solidFill>
          <a:ln w="15875">
            <a:solidFill>
              <a:schemeClr val="accent1"/>
            </a:solidFill>
          </a:ln>
        </p:spPr>
        <p:txBody>
          <a:bodyPr wrap="square" lIns="73152" tIns="38100" rIns="73152" bIns="38100" rtlCol="0" anchor="ctr"/>
          <a:lstStyle/>
          <a:p>
            <a:pPr algn="ctr" indent="0" marL="0">
              <a:buNone/>
            </a:pPr>
            <a:r>
              <a:rPr lang="en-US" sz="1500" dirty="0">
                <a:solidFill>
                  <a:schemeClr val="accent1"/>
                </a:solidFill>
                <a:latin typeface="+mj-lt" pitchFamily="34" charset="0"/>
                <a:ea typeface="+mj-lt" pitchFamily="34" charset="-122"/>
                <a:cs typeface="+mj-lt" pitchFamily="34" charset="-120"/>
              </a:rPr>
              <a:t>Guide</a:t>
            </a:r>
            <a:endParaRPr lang="en-US" sz="1500" dirty="0"/>
          </a:p>
          <a:p>
            <a:pPr algn="ctr" indent="0" marL="0">
              <a:buNone/>
            </a:pPr>
            <a:r>
              <a:rPr lang="en-US" sz="1200" dirty="0">
                <a:solidFill>
                  <a:schemeClr val="tx2"/>
                </a:solidFill>
              </a:rPr>
              <a:t>It’s useful</a:t>
            </a:r>
            <a:endParaRPr lang="en-US" sz="1500" dirty="0"/>
          </a:p>
        </p:txBody>
      </p:sp>
      <p:sp>
        <p:nvSpPr>
          <p:cNvPr id="31" name="Shape 29"/>
          <p:cNvSpPr/>
          <p:nvPr/>
        </p:nvSpPr>
        <p:spPr>
          <a:xfrm>
            <a:off x="4069080" y="4709160"/>
            <a:ext cx="0" cy="182880"/>
          </a:xfrm>
          <a:prstGeom prst="line">
            <a:avLst/>
          </a:prstGeom>
          <a:noFill/>
          <a:ln w="15875">
            <a:solidFill>
              <a:schemeClr val="accent1"/>
            </a:solidFill>
            <a:prstDash val="solid"/>
          </a:ln>
        </p:spPr>
      </p:sp>
      <p:sp>
        <p:nvSpPr>
          <p:cNvPr id="32" name="Shape 30"/>
          <p:cNvSpPr/>
          <p:nvPr/>
        </p:nvSpPr>
        <p:spPr>
          <a:xfrm>
            <a:off x="4069080" y="4892040"/>
            <a:ext cx="845820" cy="0"/>
          </a:xfrm>
          <a:prstGeom prst="line">
            <a:avLst/>
          </a:prstGeom>
          <a:noFill/>
          <a:ln w="15875">
            <a:solidFill>
              <a:schemeClr val="accent1"/>
            </a:solidFill>
            <a:prstDash val="solid"/>
          </a:ln>
        </p:spPr>
      </p:sp>
      <p:sp>
        <p:nvSpPr>
          <p:cNvPr id="33" name="Shape 31"/>
          <p:cNvSpPr/>
          <p:nvPr/>
        </p:nvSpPr>
        <p:spPr>
          <a:xfrm>
            <a:off x="4914900" y="4892040"/>
            <a:ext cx="0" cy="137160"/>
          </a:xfrm>
          <a:prstGeom prst="line">
            <a:avLst/>
          </a:prstGeom>
          <a:noFill/>
          <a:ln w="15875">
            <a:solidFill>
              <a:schemeClr val="accent1"/>
            </a:solidFill>
            <a:prstDash val="solid"/>
            <a:tailEnd type="triangle"/>
          </a:ln>
        </p:spPr>
      </p:sp>
      <p:sp>
        <p:nvSpPr>
          <p:cNvPr id="34" name="Text 32"/>
          <p:cNvSpPr/>
          <p:nvPr/>
        </p:nvSpPr>
        <p:spPr>
          <a:xfrm>
            <a:off x="5852160" y="5029200"/>
            <a:ext cx="1508760" cy="685800"/>
          </a:xfrm>
          <a:prstGeom prst="roundRect">
            <a:avLst>
              <a:gd name="adj" fmla="val 13333"/>
            </a:avLst>
          </a:prstGeom>
          <a:solidFill>
            <a:schemeClr val="accent2"/>
          </a:solidFill>
          <a:ln w="15875">
            <a:solidFill>
              <a:schemeClr val="accent1"/>
            </a:solidFill>
          </a:ln>
        </p:spPr>
        <p:txBody>
          <a:bodyPr wrap="square" lIns="73152" tIns="38100" rIns="73152" bIns="38100" rtlCol="0" anchor="ctr"/>
          <a:lstStyle/>
          <a:p>
            <a:pPr algn="ctr" indent="0" marL="0">
              <a:buNone/>
            </a:pPr>
            <a:r>
              <a:rPr lang="en-US" sz="1500" dirty="0">
                <a:solidFill>
                  <a:schemeClr val="accent1"/>
                </a:solidFill>
                <a:latin typeface="+mj-lt" pitchFamily="34" charset="0"/>
                <a:ea typeface="+mj-lt" pitchFamily="34" charset="-122"/>
                <a:cs typeface="+mj-lt" pitchFamily="34" charset="-120"/>
              </a:rPr>
              <a:t>Act</a:t>
            </a:r>
            <a:endParaRPr lang="en-US" sz="1500" dirty="0"/>
          </a:p>
          <a:p>
            <a:pPr algn="ctr" indent="0" marL="0">
              <a:buNone/>
            </a:pPr>
            <a:r>
              <a:rPr lang="en-US" sz="1200" dirty="0">
                <a:solidFill>
                  <a:schemeClr val="tx2"/>
                </a:solidFill>
              </a:rPr>
              <a:t>It’s done</a:t>
            </a:r>
            <a:endParaRPr lang="en-US" sz="1500" dirty="0"/>
          </a:p>
        </p:txBody>
      </p:sp>
      <p:sp>
        <p:nvSpPr>
          <p:cNvPr id="35" name="Shape 33"/>
          <p:cNvSpPr/>
          <p:nvPr/>
        </p:nvSpPr>
        <p:spPr>
          <a:xfrm>
            <a:off x="4069080" y="4709160"/>
            <a:ext cx="0" cy="182880"/>
          </a:xfrm>
          <a:prstGeom prst="line">
            <a:avLst/>
          </a:prstGeom>
          <a:noFill/>
          <a:ln w="15875">
            <a:solidFill>
              <a:schemeClr val="accent1"/>
            </a:solidFill>
            <a:prstDash val="solid"/>
          </a:ln>
        </p:spPr>
      </p:sp>
      <p:sp>
        <p:nvSpPr>
          <p:cNvPr id="36" name="Shape 34"/>
          <p:cNvSpPr/>
          <p:nvPr/>
        </p:nvSpPr>
        <p:spPr>
          <a:xfrm>
            <a:off x="4069080" y="4892040"/>
            <a:ext cx="2537460" cy="0"/>
          </a:xfrm>
          <a:prstGeom prst="line">
            <a:avLst/>
          </a:prstGeom>
          <a:noFill/>
          <a:ln w="15875">
            <a:solidFill>
              <a:schemeClr val="accent1"/>
            </a:solidFill>
            <a:prstDash val="solid"/>
          </a:ln>
        </p:spPr>
      </p:sp>
      <p:sp>
        <p:nvSpPr>
          <p:cNvPr id="37" name="Shape 35"/>
          <p:cNvSpPr/>
          <p:nvPr/>
        </p:nvSpPr>
        <p:spPr>
          <a:xfrm>
            <a:off x="6606540" y="4892040"/>
            <a:ext cx="0" cy="137160"/>
          </a:xfrm>
          <a:prstGeom prst="line">
            <a:avLst/>
          </a:prstGeom>
          <a:noFill/>
          <a:ln w="15875">
            <a:solidFill>
              <a:schemeClr val="accent1"/>
            </a:solidFill>
            <a:prstDash val="solid"/>
            <a:tailEnd type="triangle"/>
          </a:ln>
        </p:spPr>
      </p:sp>
      <p:sp>
        <p:nvSpPr>
          <p:cNvPr id="38" name="Text 36"/>
          <p:cNvSpPr/>
          <p:nvPr/>
        </p:nvSpPr>
        <p:spPr>
          <a:xfrm>
            <a:off x="777240" y="5824728"/>
            <a:ext cx="1188720" cy="384048"/>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1400" dirty="0">
                <a:solidFill>
                  <a:schemeClr val="bg1"/>
                </a:solidFill>
                <a:latin typeface="+mj-lt" pitchFamily="34" charset="0"/>
                <a:ea typeface="+mj-lt" pitchFamily="34" charset="-122"/>
                <a:cs typeface="+mj-lt" pitchFamily="34" charset="-120"/>
              </a:rPr>
              <a:t>Secure</a:t>
            </a:r>
            <a:endParaRPr lang="en-US" sz="1400" dirty="0"/>
          </a:p>
        </p:txBody>
      </p:sp>
      <p:sp>
        <p:nvSpPr>
          <p:cNvPr id="39" name="Text 37"/>
          <p:cNvSpPr txBox="1"/>
          <p:nvPr/>
        </p:nvSpPr>
        <p:spPr>
          <a:xfrm>
            <a:off x="8001000" y="1874520"/>
            <a:ext cx="3611880" cy="4389120"/>
          </a:xfrm>
          <a:prstGeom prst="rect">
            <a:avLst/>
          </a:prstGeom>
          <a:noFill/>
          <a:ln/>
        </p:spPr>
        <p:txBody>
          <a:bodyPr wrap="square" lIns="0" tIns="0" rIns="0" bIns="0" rtlCol="0" anchor="t"/>
          <a:lstStyle/>
          <a:p>
            <a:pPr algn="l" indent="0" marL="0">
              <a:spcAft>
                <a:spcPts val="600"/>
              </a:spcAft>
              <a:buNone/>
            </a:pPr>
            <a:r>
              <a:rPr lang="en-US" sz="2000" dirty="0">
                <a:solidFill>
                  <a:schemeClr val="accent1"/>
                </a:solidFill>
                <a:latin typeface="+mj-lt" pitchFamily="34" charset="0"/>
                <a:ea typeface="+mj-lt" pitchFamily="34" charset="-122"/>
                <a:cs typeface="+mj-lt" pitchFamily="34" charset="-120"/>
              </a:rPr>
              <a:t>Generative in the conversation. Controlled in the outcome.</a:t>
            </a:r>
            <a:endParaRPr lang="en-US" sz="2000" dirty="0"/>
          </a:p>
          <a:p>
            <a:pPr algn="l" indent="0" marL="0">
              <a:spcAft>
                <a:spcPts val="1600"/>
              </a:spcAft>
              <a:buNone/>
            </a:pPr>
            <a:r>
              <a:rPr lang="en-US" sz="1600" dirty="0">
                <a:solidFill>
                  <a:schemeClr val="tx1"/>
                </a:solidFill>
              </a:rPr>
              <a:t>Use flexibility where language adds value. Use control where correctness is non-negotiable.</a:t>
            </a:r>
            <a:endParaRPr lang="en-US" sz="2000" dirty="0"/>
          </a:p>
          <a:p>
            <a:pPr algn="l" indent="0" marL="0">
              <a:spcAft>
                <a:spcPts val="600"/>
              </a:spcAft>
              <a:buNone/>
            </a:pPr>
            <a:r>
              <a:rPr lang="en-US" sz="2000" dirty="0">
                <a:solidFill>
                  <a:schemeClr val="accent1"/>
                </a:solidFill>
                <a:latin typeface="+mj-lt" pitchFamily="34" charset="0"/>
                <a:ea typeface="+mj-lt" pitchFamily="34" charset="-122"/>
                <a:cs typeface="+mj-lt" pitchFamily="34" charset="-120"/>
              </a:rPr>
              <a:t>Customers do not remain inside one box</a:t>
            </a:r>
            <a:endParaRPr lang="en-US" sz="2000" dirty="0"/>
          </a:p>
          <a:p>
            <a:pPr algn="l" indent="0" marL="0">
              <a:spcAft>
                <a:spcPts val="1600"/>
              </a:spcAft>
              <a:buNone/>
            </a:pPr>
            <a:r>
              <a:rPr lang="en-US" sz="1600" dirty="0">
                <a:solidFill>
                  <a:schemeClr val="tx1"/>
                </a:solidFill>
              </a:rPr>
              <a:t>A conversation can change problem type at every turn.</a:t>
            </a:r>
            <a:endParaRPr lang="en-US" sz="2000" dirty="0"/>
          </a:p>
          <a:p>
            <a:pPr algn="l" indent="0" marL="0">
              <a:buNone/>
            </a:pPr>
            <a:r>
              <a:rPr lang="en-US" sz="2000" dirty="0">
                <a:solidFill>
                  <a:schemeClr val="accent1"/>
                </a:solidFill>
                <a:latin typeface="+mj-lt" pitchFamily="34" charset="0"/>
                <a:ea typeface="+mj-lt" pitchFamily="34" charset="-122"/>
                <a:cs typeface="+mj-lt" pitchFamily="34" charset="-120"/>
              </a:rPr>
              <a:t>Secured by design</a:t>
            </a:r>
            <a:endParaRPr lang="en-US" sz="20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607040" cy="4023360"/>
          </a:xfrm>
          <a:prstGeom prst="rect">
            <a:avLst/>
          </a:prstGeom>
          <a:noFill/>
          <a:ln/>
        </p:spPr>
        <p:txBody>
          <a:bodyPr wrap="square" lIns="0" tIns="0" rIns="0" bIns="0" rtlCol="0" anchor="ctr"/>
          <a:lstStyle/>
          <a:p>
            <a:pPr algn="l" indent="0" marL="0">
              <a:buNone/>
            </a:pPr>
            <a:r>
              <a:rPr lang="en-US" sz="5200" dirty="0">
                <a:solidFill>
                  <a:schemeClr val="accent1"/>
                </a:solidFill>
              </a:rPr>
              <a:t>Launch is day one</a:t>
            </a:r>
            <a:endParaRPr lang="en-US" sz="5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Building it is only half the job</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Evaluation is part of the architecture, not a gate at the end of development.</a:t>
            </a:r>
            <a:endParaRPr lang="en-US" sz="1800" dirty="0"/>
          </a:p>
        </p:txBody>
      </p:sp>
      <p:sp>
        <p:nvSpPr>
          <p:cNvPr id="4" name="Shape 2"/>
          <p:cNvSpPr/>
          <p:nvPr/>
        </p:nvSpPr>
        <p:spPr>
          <a:xfrm>
            <a:off x="4724705" y="2606040"/>
            <a:ext cx="2743200" cy="2743200"/>
          </a:xfrm>
          <a:prstGeom prst="arc">
            <a:avLst>
              <a:gd name="adj1" fmla="val 12000000"/>
              <a:gd name="adj2" fmla="val 18000000"/>
            </a:avLst>
          </a:prstGeom>
          <a:noFill/>
          <a:ln w="88900">
            <a:solidFill>
              <a:schemeClr val="accent1"/>
            </a:solidFill>
            <a:prstDash val="solid"/>
            <a:tailEnd type="triangle"/>
          </a:ln>
        </p:spPr>
      </p:sp>
      <p:sp>
        <p:nvSpPr>
          <p:cNvPr id="5" name="Shape 3"/>
          <p:cNvSpPr/>
          <p:nvPr/>
        </p:nvSpPr>
        <p:spPr>
          <a:xfrm>
            <a:off x="4724705" y="2606040"/>
            <a:ext cx="2743200" cy="2743200"/>
          </a:xfrm>
          <a:prstGeom prst="arc">
            <a:avLst>
              <a:gd name="adj1" fmla="val 19200000"/>
              <a:gd name="adj2" fmla="val 3600000"/>
            </a:avLst>
          </a:prstGeom>
          <a:noFill/>
          <a:ln w="88900">
            <a:solidFill>
              <a:schemeClr val="accent2"/>
            </a:solidFill>
            <a:prstDash val="solid"/>
            <a:tailEnd type="triangle"/>
          </a:ln>
        </p:spPr>
      </p:sp>
      <p:sp>
        <p:nvSpPr>
          <p:cNvPr id="6" name="Shape 4"/>
          <p:cNvSpPr/>
          <p:nvPr/>
        </p:nvSpPr>
        <p:spPr>
          <a:xfrm>
            <a:off x="4724705" y="2606040"/>
            <a:ext cx="2743200" cy="2743200"/>
          </a:xfrm>
          <a:prstGeom prst="arc">
            <a:avLst>
              <a:gd name="adj1" fmla="val 4800000"/>
              <a:gd name="adj2" fmla="val 10800000"/>
            </a:avLst>
          </a:prstGeom>
          <a:noFill/>
          <a:ln w="88900">
            <a:solidFill>
              <a:schemeClr val="accent1">
                <a:alpha val="55000"/>
              </a:schemeClr>
            </a:solidFill>
            <a:prstDash val="solid"/>
            <a:tailEnd type="triangle"/>
          </a:ln>
        </p:spPr>
      </p:sp>
      <p:sp>
        <p:nvSpPr>
          <p:cNvPr id="7" name="Text 5"/>
          <p:cNvSpPr txBox="1"/>
          <p:nvPr/>
        </p:nvSpPr>
        <p:spPr>
          <a:xfrm>
            <a:off x="1828800" y="2651760"/>
            <a:ext cx="2743200" cy="1737360"/>
          </a:xfrm>
          <a:prstGeom prst="rect">
            <a:avLst/>
          </a:prstGeom>
          <a:noFill/>
          <a:ln/>
        </p:spPr>
        <p:txBody>
          <a:bodyPr wrap="square" lIns="0" tIns="0" rIns="0" bIns="0" rtlCol="0" anchor="t"/>
          <a:lstStyle/>
          <a:p>
            <a:pPr algn="r" indent="0" marL="0">
              <a:spcAft>
                <a:spcPts val="400"/>
              </a:spcAft>
              <a:buNone/>
            </a:pPr>
            <a:r>
              <a:rPr lang="en-US" sz="2400" dirty="0">
                <a:solidFill>
                  <a:schemeClr val="tx1"/>
                </a:solidFill>
                <a:latin typeface="+mj-lt" pitchFamily="34" charset="0"/>
                <a:ea typeface="+mj-lt" pitchFamily="34" charset="-122"/>
                <a:cs typeface="+mj-lt" pitchFamily="34" charset="-120"/>
              </a:rPr>
              <a:t>Improve</a:t>
            </a:r>
            <a:endParaRPr lang="en-US" sz="2400" dirty="0"/>
          </a:p>
          <a:p>
            <a:pPr algn="r" indent="0" marL="0">
              <a:buNone/>
            </a:pPr>
            <a:r>
              <a:rPr lang="en-US" sz="1600" dirty="0">
                <a:solidFill>
                  <a:schemeClr val="accent1"/>
                </a:solidFill>
              </a:rPr>
              <a:t>Knowledge, routing, scripts, rules or wording</a:t>
            </a:r>
            <a:endParaRPr lang="en-US" sz="2400" dirty="0"/>
          </a:p>
        </p:txBody>
      </p:sp>
      <p:sp>
        <p:nvSpPr>
          <p:cNvPr id="8" name="Text 6"/>
          <p:cNvSpPr txBox="1"/>
          <p:nvPr/>
        </p:nvSpPr>
        <p:spPr>
          <a:xfrm>
            <a:off x="7863840" y="2651760"/>
            <a:ext cx="3291840" cy="1737360"/>
          </a:xfrm>
          <a:prstGeom prst="rect">
            <a:avLst/>
          </a:prstGeom>
          <a:noFill/>
          <a:ln/>
        </p:spPr>
        <p:txBody>
          <a:bodyPr wrap="square" lIns="0" tIns="0" rIns="0" bIns="0" rtlCol="0" anchor="t"/>
          <a:lstStyle/>
          <a:p>
            <a:pPr algn="l" indent="0" marL="0">
              <a:spcAft>
                <a:spcPts val="400"/>
              </a:spcAft>
              <a:buNone/>
            </a:pPr>
            <a:r>
              <a:rPr lang="en-US" sz="2400" dirty="0">
                <a:solidFill>
                  <a:schemeClr val="tx1"/>
                </a:solidFill>
                <a:latin typeface="+mj-lt" pitchFamily="34" charset="0"/>
                <a:ea typeface="+mj-lt" pitchFamily="34" charset="-122"/>
                <a:cs typeface="+mj-lt" pitchFamily="34" charset="-120"/>
              </a:rPr>
              <a:t>Monitor</a:t>
            </a:r>
            <a:endParaRPr lang="en-US" sz="2400" dirty="0"/>
          </a:p>
          <a:p>
            <a:pPr algn="l" indent="0" marL="0">
              <a:buNone/>
            </a:pPr>
            <a:r>
              <a:rPr lang="en-US" sz="1600" dirty="0">
                <a:solidFill>
                  <a:schemeClr val="accent1"/>
                </a:solidFill>
              </a:rPr>
              <a:t>Feedback, handoff reasons, repeated questions, drop-offs</a:t>
            </a:r>
            <a:endParaRPr lang="en-US" sz="2400" dirty="0"/>
          </a:p>
        </p:txBody>
      </p:sp>
      <p:sp>
        <p:nvSpPr>
          <p:cNvPr id="9" name="Text 7"/>
          <p:cNvSpPr txBox="1"/>
          <p:nvPr/>
        </p:nvSpPr>
        <p:spPr>
          <a:xfrm>
            <a:off x="4023360" y="5349240"/>
            <a:ext cx="4160520" cy="1005840"/>
          </a:xfrm>
          <a:prstGeom prst="rect">
            <a:avLst/>
          </a:prstGeom>
          <a:noFill/>
          <a:ln/>
        </p:spPr>
        <p:txBody>
          <a:bodyPr wrap="square" lIns="0" tIns="0" rIns="0" bIns="0" rtlCol="0" anchor="t"/>
          <a:lstStyle/>
          <a:p>
            <a:pPr algn="ctr" indent="0" marL="0">
              <a:spcAft>
                <a:spcPts val="400"/>
              </a:spcAft>
              <a:buNone/>
            </a:pPr>
            <a:r>
              <a:rPr lang="en-US" sz="2400" dirty="0">
                <a:solidFill>
                  <a:schemeClr val="tx1"/>
                </a:solidFill>
                <a:latin typeface="+mj-lt" pitchFamily="34" charset="0"/>
                <a:ea typeface="+mj-lt" pitchFamily="34" charset="-122"/>
                <a:cs typeface="+mj-lt" pitchFamily="34" charset="-120"/>
              </a:rPr>
              <a:t>Evaluate</a:t>
            </a:r>
            <a:endParaRPr lang="en-US" sz="2400" dirty="0"/>
          </a:p>
          <a:p>
            <a:pPr algn="ctr" indent="0" marL="0">
              <a:buNone/>
            </a:pPr>
            <a:r>
              <a:rPr lang="en-US" sz="1600" dirty="0">
                <a:solidFill>
                  <a:schemeClr val="accent1"/>
                </a:solidFill>
              </a:rPr>
              <a:t>Understand conversation flow and identify flaws</a:t>
            </a:r>
            <a:endParaRPr lang="en-US" sz="2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607040" cy="3291840"/>
          </a:xfrm>
          <a:prstGeom prst="rect">
            <a:avLst/>
          </a:prstGeom>
          <a:noFill/>
          <a:ln/>
        </p:spPr>
        <p:txBody>
          <a:bodyPr wrap="square" lIns="0" tIns="0" rIns="0" bIns="0" rtlCol="0" anchor="b"/>
          <a:lstStyle/>
          <a:p>
            <a:pPr algn="l" indent="0" marL="0">
              <a:buNone/>
            </a:pPr>
            <a:r>
              <a:rPr lang="en-US" sz="5200" dirty="0">
                <a:solidFill>
                  <a:schemeClr val="bg1"/>
                </a:solidFill>
              </a:rPr>
              <a:t>AI for security</a:t>
            </a:r>
            <a:endParaRPr lang="en-US" sz="5200" dirty="0"/>
          </a:p>
        </p:txBody>
      </p:sp>
      <p:sp>
        <p:nvSpPr>
          <p:cNvPr id="3" name="Text 0"/>
          <p:cNvSpPr/>
          <p:nvPr>
            <p:ph idx="101" type="body" hasCustomPrompt="1"/>
          </p:nvPr>
        </p:nvSpPr>
        <p:spPr>
          <a:xfrm>
            <a:off x="822960" y="4663440"/>
            <a:ext cx="10607040" cy="822960"/>
          </a:xfrm>
          <a:prstGeom prst="rect">
            <a:avLst/>
          </a:prstGeom>
          <a:noFill/>
          <a:ln/>
        </p:spPr>
        <p:txBody>
          <a:bodyPr wrap="square" lIns="0" tIns="0" rIns="0" bIns="0" rtlCol="0" anchor="t"/>
          <a:lstStyle/>
          <a:p>
            <a:pPr algn="l" indent="0" marL="0">
              <a:buNone/>
            </a:pPr>
            <a:r>
              <a:rPr lang="en-US" sz="2600" dirty="0">
                <a:solidFill>
                  <a:schemeClr val="bg1"/>
                </a:solidFill>
              </a:rPr>
              <a:t>And the challenges that come with it</a:t>
            </a:r>
            <a:endParaRPr lang="en-US" sz="2600" dirty="0"/>
          </a:p>
        </p:txBody>
      </p:sp>
      <p:sp>
        <p:nvSpPr>
          <p:cNvPr id="4" name="Text 2"/>
          <p:cNvSpPr txBox="1"/>
          <p:nvPr/>
        </p:nvSpPr>
        <p:spPr>
          <a:xfrm>
            <a:off x="822960" y="640080"/>
            <a:ext cx="7315200" cy="365760"/>
          </a:xfrm>
          <a:prstGeom prst="rect">
            <a:avLst/>
          </a:prstGeom>
          <a:noFill/>
          <a:ln/>
        </p:spPr>
        <p:txBody>
          <a:bodyPr wrap="square" lIns="0" tIns="0" rIns="0" bIns="0" rtlCol="0" anchor="t"/>
          <a:lstStyle/>
          <a:p>
            <a:pPr algn="l" indent="0" marL="0">
              <a:buNone/>
            </a:pPr>
            <a:r>
              <a:rPr lang="en-US" sz="1400" spc="300" kern="0" dirty="0">
                <a:solidFill>
                  <a:schemeClr val="bg1"/>
                </a:solidFill>
                <a:latin typeface="+mj-lt" pitchFamily="34" charset="0"/>
                <a:ea typeface="+mj-lt" pitchFamily="34" charset="-122"/>
                <a:cs typeface="+mj-lt" pitchFamily="34" charset="-120"/>
              </a:rPr>
              <a:t>PART 2 · AI FOR SECURITY</a:t>
            </a:r>
            <a:endParaRPr lang="en-US" sz="1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The M-word</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Estimated private-market price of Anthropic shares</a:t>
            </a:r>
            <a:endParaRPr lang="en-US" sz="1800" dirty="0"/>
          </a:p>
        </p:txBody>
      </p:sp>
      <p:pic>
        <p:nvPicPr>
          <p:cNvPr id="4" name="Image 0" descr="Anthropic private-market share price chart, rising sharply in 2026">    </p:cNvPr>
          <p:cNvPicPr>
            <a:picLocks noChangeAspect="1"/>
          </p:cNvPicPr>
          <p:nvPr/>
        </p:nvPicPr>
        <p:blipFill>
          <a:blip r:embed="rId1"/>
          <a:stretch>
            <a:fillRect/>
          </a:stretch>
        </p:blipFill>
        <p:spPr>
          <a:xfrm>
            <a:off x="1435608" y="2011680"/>
            <a:ext cx="9326880" cy="4297680"/>
          </a:xfrm>
          <a:prstGeom prst="rect">
            <a:avLst/>
          </a:prstGeom>
        </p:spPr>
      </p:pic>
      <p:sp>
        <p:nvSpPr>
          <p:cNvPr id="5" name="Shape 2"/>
          <p:cNvSpPr/>
          <p:nvPr/>
        </p:nvSpPr>
        <p:spPr>
          <a:xfrm>
            <a:off x="6492240" y="4434840"/>
            <a:ext cx="1874520" cy="731520"/>
          </a:xfrm>
          <a:prstGeom prst="line">
            <a:avLst/>
          </a:prstGeom>
          <a:noFill/>
          <a:ln w="38100">
            <a:solidFill>
              <a:schemeClr val="accent2"/>
            </a:solidFill>
            <a:prstDash val="solid"/>
            <a:tailEnd type="triangle"/>
          </a:ln>
        </p:spPr>
      </p:sp>
      <p:sp>
        <p:nvSpPr>
          <p:cNvPr id="6" name="Text 3"/>
          <p:cNvSpPr/>
          <p:nvPr/>
        </p:nvSpPr>
        <p:spPr>
          <a:xfrm>
            <a:off x="4297680" y="3931920"/>
            <a:ext cx="2560320" cy="502920"/>
          </a:xfrm>
          <a:prstGeom prst="roundRect">
            <a:avLst>
              <a:gd name="adj" fmla="val 18182"/>
            </a:avLst>
          </a:prstGeom>
          <a:solidFill>
            <a:schemeClr val="accent1"/>
          </a:solidFill>
          <a:ln/>
        </p:spPr>
        <p:txBody>
          <a:bodyPr wrap="square" lIns="73152" tIns="38100" rIns="73152" bIns="38100" rtlCol="0" anchor="ctr"/>
          <a:lstStyle/>
          <a:p>
            <a:pPr algn="ctr" indent="0" marL="0">
              <a:buNone/>
            </a:pPr>
            <a:r>
              <a:rPr lang="en-US" sz="1600" dirty="0">
                <a:solidFill>
                  <a:schemeClr val="bg1"/>
                </a:solidFill>
                <a:latin typeface="+mj-lt" pitchFamily="34" charset="0"/>
                <a:ea typeface="+mj-lt" pitchFamily="34" charset="-122"/>
                <a:cs typeface="+mj-lt" pitchFamily="34" charset="-120"/>
              </a:rPr>
              <a:t>Mythos announced</a:t>
            </a:r>
            <a:endParaRPr lang="en-US" sz="1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AISI’s benchmark</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UK AI Security Institute · steps completed on “The Last Ones”</a:t>
            </a:r>
            <a:endParaRPr lang="en-US" sz="1800" dirty="0"/>
          </a:p>
        </p:txBody>
      </p:sp>
      <p:pic>
        <p:nvPicPr>
          <p:cNvPr id="4" name="Image 0" descr="AISI chart: completed steps on “The Last Ones” per tokens spent, by model">    </p:cNvPr>
          <p:cNvPicPr>
            <a:picLocks noChangeAspect="1"/>
          </p:cNvPicPr>
          <p:nvPr/>
        </p:nvPicPr>
        <p:blipFill>
          <a:blip r:embed="rId1"/>
          <a:stretch>
            <a:fillRect/>
          </a:stretch>
        </p:blipFill>
        <p:spPr>
          <a:xfrm>
            <a:off x="822960" y="1965960"/>
            <a:ext cx="6949440" cy="4279392"/>
          </a:xfrm>
          <a:prstGeom prst="rect">
            <a:avLst/>
          </a:prstGeom>
        </p:spPr>
      </p:pic>
      <p:sp>
        <p:nvSpPr>
          <p:cNvPr id="5" name="Text 2"/>
          <p:cNvSpPr txBox="1"/>
          <p:nvPr/>
        </p:nvSpPr>
        <p:spPr>
          <a:xfrm>
            <a:off x="8183880" y="1828800"/>
            <a:ext cx="3383280" cy="1280160"/>
          </a:xfrm>
          <a:prstGeom prst="rect">
            <a:avLst/>
          </a:prstGeom>
          <a:noFill/>
          <a:ln/>
        </p:spPr>
        <p:txBody>
          <a:bodyPr wrap="square" lIns="0" tIns="0" rIns="0" bIns="0" rtlCol="0" anchor="ctr"/>
          <a:lstStyle/>
          <a:p>
            <a:pPr algn="l" indent="0" marL="0">
              <a:buNone/>
            </a:pPr>
            <a:r>
              <a:rPr lang="en-US" sz="8000" dirty="0">
                <a:solidFill>
                  <a:schemeClr val="accent1"/>
                </a:solidFill>
                <a:latin typeface="+mj-lt" pitchFamily="34" charset="0"/>
                <a:ea typeface="+mj-lt" pitchFamily="34" charset="-122"/>
                <a:cs typeface="+mj-lt" pitchFamily="34" charset="-120"/>
              </a:rPr>
              <a:t>32</a:t>
            </a:r>
            <a:endParaRPr lang="en-US" sz="8000" dirty="0"/>
          </a:p>
        </p:txBody>
      </p:sp>
      <p:sp>
        <p:nvSpPr>
          <p:cNvPr id="6" name="Text 3"/>
          <p:cNvSpPr txBox="1"/>
          <p:nvPr/>
        </p:nvSpPr>
        <p:spPr>
          <a:xfrm>
            <a:off x="8183880" y="3108960"/>
            <a:ext cx="3383280" cy="731520"/>
          </a:xfrm>
          <a:prstGeom prst="rect">
            <a:avLst/>
          </a:prstGeom>
          <a:noFill/>
          <a:ln/>
        </p:spPr>
        <p:txBody>
          <a:bodyPr wrap="square" lIns="0" tIns="0" rIns="0" bIns="0" rtlCol="0" anchor="t"/>
          <a:lstStyle/>
          <a:p>
            <a:pPr algn="l" indent="0" marL="0">
              <a:buNone/>
            </a:pPr>
            <a:r>
              <a:rPr lang="en-US" sz="1800" dirty="0">
                <a:solidFill>
                  <a:schemeClr val="tx1"/>
                </a:solidFill>
              </a:rPr>
              <a:t>chained steps for a full network takeover</a:t>
            </a:r>
            <a:endParaRPr lang="en-US" sz="1800" dirty="0"/>
          </a:p>
        </p:txBody>
      </p:sp>
      <p:sp>
        <p:nvSpPr>
          <p:cNvPr id="7" name="Text 4"/>
          <p:cNvSpPr txBox="1"/>
          <p:nvPr/>
        </p:nvSpPr>
        <p:spPr>
          <a:xfrm>
            <a:off x="8183880" y="4114800"/>
            <a:ext cx="3383280" cy="2194560"/>
          </a:xfrm>
          <a:prstGeom prst="rect">
            <a:avLst/>
          </a:prstGeom>
          <a:noFill/>
          <a:ln/>
        </p:spPr>
        <p:txBody>
          <a:bodyPr wrap="square" lIns="0" tIns="0" rIns="0" bIns="0" rtlCol="0" anchor="t"/>
          <a:lstStyle/>
          <a:p>
            <a:pPr algn="l" marL="254000" indent="-254000">
              <a:spcAft>
                <a:spcPts val="800"/>
              </a:spcAft>
              <a:buSzPct val="100000"/>
              <a:buChar char="•"/>
            </a:pPr>
            <a:r>
              <a:rPr lang="en-US" sz="1600" dirty="0">
                <a:solidFill>
                  <a:schemeClr val="tx1"/>
                </a:solidFill>
              </a:rPr>
              <a:t>Mythos is the first model to complete the entire chain</a:t>
            </a:r>
            <a:endParaRPr lang="en-US" sz="1600" dirty="0"/>
          </a:p>
          <a:p>
            <a:pPr algn="l" marL="254000" indent="-254000">
              <a:spcAft>
                <a:spcPts val="800"/>
              </a:spcAft>
              <a:buSzPct val="100000"/>
              <a:buChar char="•"/>
            </a:pPr>
            <a:r>
              <a:rPr lang="en-US" sz="1600" dirty="0">
                <a:solidFill>
                  <a:schemeClr val="tx1"/>
                </a:solidFill>
              </a:rPr>
              <a:t>GPT-5.5 Cyber shows very similar capabilities</a:t>
            </a:r>
            <a:endParaRPr lang="en-US" sz="1600" dirty="0"/>
          </a:p>
          <a:p>
            <a:pPr algn="l" marL="254000" indent="-254000">
              <a:buSzPct val="100000"/>
              <a:buChar char="•"/>
            </a:pPr>
            <a:r>
              <a:rPr lang="en-US" sz="1600" dirty="0">
                <a:solidFill>
                  <a:schemeClr val="tx1"/>
                </a:solidFill>
              </a:rPr>
              <a:t>No earlier model came close</a:t>
            </a:r>
            <a:endParaRPr lang="en-US" sz="1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A new challenge</a:t>
            </a:r>
            <a:endParaRPr lang="en-US" sz="3600" dirty="0"/>
          </a:p>
        </p:txBody>
      </p:sp>
      <p:sp>
        <p:nvSpPr>
          <p:cNvPr id="3" name="Shape 1"/>
          <p:cNvSpPr/>
          <p:nvPr/>
        </p:nvSpPr>
        <p:spPr>
          <a:xfrm>
            <a:off x="548640" y="1463040"/>
            <a:ext cx="3566160" cy="2468880"/>
          </a:xfrm>
          <a:prstGeom prst="roundRect">
            <a:avLst>
              <a:gd name="adj" fmla="val 3704"/>
            </a:avLst>
          </a:prstGeom>
          <a:solidFill>
            <a:schemeClr val="bg2"/>
          </a:solidFill>
          <a:ln/>
        </p:spPr>
      </p:sp>
      <p:sp>
        <p:nvSpPr>
          <p:cNvPr id="4" name="Text 2"/>
          <p:cNvSpPr txBox="1"/>
          <p:nvPr/>
        </p:nvSpPr>
        <p:spPr>
          <a:xfrm>
            <a:off x="731520" y="1600200"/>
            <a:ext cx="3200400" cy="411480"/>
          </a:xfrm>
          <a:prstGeom prst="rect">
            <a:avLst/>
          </a:prstGeom>
          <a:noFill/>
          <a:ln/>
        </p:spPr>
        <p:txBody>
          <a:bodyPr wrap="square" lIns="0" tIns="0" rIns="0" bIns="0" rtlCol="0" anchor="t"/>
          <a:lstStyle/>
          <a:p>
            <a:pPr algn="l" indent="0" marL="0">
              <a:buNone/>
            </a:pPr>
            <a:r>
              <a:rPr lang="en-US" sz="1800" dirty="0">
                <a:solidFill>
                  <a:schemeClr val="accent1"/>
                </a:solidFill>
                <a:latin typeface="+mj-lt" pitchFamily="34" charset="0"/>
                <a:ea typeface="+mj-lt" pitchFamily="34" charset="-122"/>
                <a:cs typeface="+mj-lt" pitchFamily="34" charset="-120"/>
              </a:rPr>
              <a:t>Human-driven testing</a:t>
            </a:r>
            <a:endParaRPr lang="en-US" sz="1800" dirty="0"/>
          </a:p>
        </p:txBody>
      </p:sp>
      <p:sp>
        <p:nvSpPr>
          <p:cNvPr id="5" name="Text 3"/>
          <p:cNvSpPr txBox="1"/>
          <p:nvPr/>
        </p:nvSpPr>
        <p:spPr>
          <a:xfrm>
            <a:off x="731520" y="2057400"/>
            <a:ext cx="3200400" cy="274320"/>
          </a:xfrm>
          <a:prstGeom prst="rect">
            <a:avLst/>
          </a:prstGeom>
          <a:noFill/>
          <a:ln/>
        </p:spPr>
        <p:txBody>
          <a:bodyPr wrap="square" lIns="0" tIns="0" rIns="0" bIns="0" rtlCol="0" anchor="t"/>
          <a:lstStyle/>
          <a:p>
            <a:pPr algn="l" indent="0" marL="0">
              <a:buNone/>
            </a:pPr>
            <a:r>
              <a:rPr lang="en-US" sz="1100" dirty="0">
                <a:solidFill>
                  <a:schemeClr val="tx1"/>
                </a:solidFill>
                <a:latin typeface="+mj-lt" pitchFamily="34" charset="0"/>
                <a:ea typeface="+mj-lt" pitchFamily="34" charset="-122"/>
                <a:cs typeface="+mj-lt" pitchFamily="34" charset="-120"/>
              </a:rPr>
              <a:t>MANUAL SECURITY ASSESSMENTS</a:t>
            </a:r>
            <a:endParaRPr lang="en-US" sz="1100" dirty="0"/>
          </a:p>
        </p:txBody>
      </p:sp>
      <p:sp>
        <p:nvSpPr>
          <p:cNvPr id="6" name="Text 4"/>
          <p:cNvSpPr txBox="1"/>
          <p:nvPr/>
        </p:nvSpPr>
        <p:spPr>
          <a:xfrm>
            <a:off x="731520" y="2423160"/>
            <a:ext cx="3200400" cy="1463040"/>
          </a:xfrm>
          <a:prstGeom prst="rect">
            <a:avLst/>
          </a:prstGeom>
          <a:noFill/>
          <a:ln/>
        </p:spPr>
        <p:txBody>
          <a:bodyPr wrap="square" lIns="0" tIns="0" rIns="0" bIns="0" rtlCol="0" anchor="t"/>
          <a:lstStyle/>
          <a:p>
            <a:pPr algn="l" marL="254000" indent="-254000">
              <a:spcAft>
                <a:spcPts val="400"/>
              </a:spcAft>
              <a:buSzPct val="100000"/>
              <a:buChar char="•"/>
            </a:pPr>
            <a:r>
              <a:rPr lang="en-US" sz="1400" dirty="0">
                <a:solidFill>
                  <a:schemeClr val="tx1"/>
                </a:solidFill>
              </a:rPr>
              <a:t>Third-party penetration testing</a:t>
            </a:r>
            <a:endParaRPr lang="en-US" sz="1400" dirty="0"/>
          </a:p>
          <a:p>
            <a:pPr algn="l" marL="254000" indent="-254000">
              <a:spcAft>
                <a:spcPts val="400"/>
              </a:spcAft>
              <a:buSzPct val="100000"/>
              <a:buChar char="•"/>
            </a:pPr>
            <a:r>
              <a:rPr lang="en-US" sz="1400" dirty="0">
                <a:solidFill>
                  <a:schemeClr val="tx1"/>
                </a:solidFill>
              </a:rPr>
              <a:t>Bug bounty program</a:t>
            </a:r>
            <a:endParaRPr lang="en-US" sz="1400" dirty="0"/>
          </a:p>
          <a:p>
            <a:pPr algn="l" marL="254000" indent="-254000">
              <a:spcAft>
                <a:spcPts val="400"/>
              </a:spcAft>
              <a:buSzPct val="100000"/>
              <a:buChar char="•"/>
            </a:pPr>
            <a:r>
              <a:rPr lang="en-US" sz="1400" dirty="0">
                <a:solidFill>
                  <a:schemeClr val="tx1"/>
                </a:solidFill>
              </a:rPr>
              <a:t>Internal threat hunting</a:t>
            </a:r>
            <a:endParaRPr lang="en-US" sz="1400" dirty="0"/>
          </a:p>
        </p:txBody>
      </p:sp>
      <p:sp>
        <p:nvSpPr>
          <p:cNvPr id="7" name="Shape 5"/>
          <p:cNvSpPr/>
          <p:nvPr/>
        </p:nvSpPr>
        <p:spPr>
          <a:xfrm>
            <a:off x="548640" y="4114800"/>
            <a:ext cx="3566160" cy="2240280"/>
          </a:xfrm>
          <a:prstGeom prst="roundRect">
            <a:avLst>
              <a:gd name="adj" fmla="val 4082"/>
            </a:avLst>
          </a:prstGeom>
          <a:noFill/>
          <a:ln w="12700">
            <a:solidFill>
              <a:schemeClr val="tx2"/>
            </a:solidFill>
            <a:prstDash val="solid"/>
          </a:ln>
        </p:spPr>
      </p:sp>
      <p:sp>
        <p:nvSpPr>
          <p:cNvPr id="8" name="Text 6"/>
          <p:cNvSpPr txBox="1"/>
          <p:nvPr/>
        </p:nvSpPr>
        <p:spPr>
          <a:xfrm>
            <a:off x="731520" y="4187952"/>
            <a:ext cx="3200400" cy="1188720"/>
          </a:xfrm>
          <a:prstGeom prst="rect">
            <a:avLst/>
          </a:prstGeom>
          <a:noFill/>
          <a:ln/>
        </p:spPr>
        <p:txBody>
          <a:bodyPr wrap="square" lIns="0" tIns="0" rIns="0" bIns="0" rtlCol="0" anchor="t"/>
          <a:lstStyle/>
          <a:p>
            <a:pPr algn="ctr" indent="0" marL="0">
              <a:spcAft>
                <a:spcPts val="300"/>
              </a:spcAft>
              <a:buNone/>
            </a:pPr>
            <a:r>
              <a:rPr lang="en-US" sz="1300" dirty="0">
                <a:solidFill>
                  <a:schemeClr val="tx1"/>
                </a:solidFill>
              </a:rPr>
              <a:t>Limited tests per release &amp; ad-hoc testing</a:t>
            </a:r>
            <a:endParaRPr lang="en-US" sz="1300" dirty="0"/>
          </a:p>
          <a:p>
            <a:pPr algn="ctr" indent="0" marL="0">
              <a:spcAft>
                <a:spcPts val="300"/>
              </a:spcAft>
              <a:buNone/>
            </a:pPr>
            <a:r>
              <a:rPr lang="en-US" sz="1300" dirty="0">
                <a:solidFill>
                  <a:schemeClr val="tx1"/>
                </a:solidFill>
              </a:rPr>
              <a:t>Limited in time, scope and budget</a:t>
            </a:r>
            <a:endParaRPr lang="en-US" sz="1300" dirty="0"/>
          </a:p>
          <a:p>
            <a:pPr algn="ctr" indent="0" marL="0">
              <a:spcAft>
                <a:spcPts val="300"/>
              </a:spcAft>
              <a:buNone/>
            </a:pPr>
            <a:r>
              <a:rPr lang="en-US" sz="1300" dirty="0">
                <a:solidFill>
                  <a:schemeClr val="tx1"/>
                </a:solidFill>
              </a:rPr>
              <a:t>Black and white box approach</a:t>
            </a:r>
            <a:endParaRPr lang="en-US" sz="1300" dirty="0"/>
          </a:p>
        </p:txBody>
      </p:sp>
      <p:sp>
        <p:nvSpPr>
          <p:cNvPr id="9" name="Shape 7"/>
          <p:cNvSpPr/>
          <p:nvPr/>
        </p:nvSpPr>
        <p:spPr>
          <a:xfrm>
            <a:off x="2331720" y="5413248"/>
            <a:ext cx="0" cy="256032"/>
          </a:xfrm>
          <a:prstGeom prst="line">
            <a:avLst/>
          </a:prstGeom>
          <a:noFill/>
          <a:ln w="38100">
            <a:solidFill>
              <a:schemeClr val="accent1"/>
            </a:solidFill>
            <a:prstDash val="solid"/>
            <a:tailEnd type="triangle"/>
          </a:ln>
        </p:spPr>
      </p:sp>
      <p:sp>
        <p:nvSpPr>
          <p:cNvPr id="10" name="Text 8"/>
          <p:cNvSpPr txBox="1"/>
          <p:nvPr/>
        </p:nvSpPr>
        <p:spPr>
          <a:xfrm>
            <a:off x="731520" y="5715000"/>
            <a:ext cx="3200400" cy="566928"/>
          </a:xfrm>
          <a:prstGeom prst="rect">
            <a:avLst/>
          </a:prstGeom>
          <a:noFill/>
          <a:ln/>
        </p:spPr>
        <p:txBody>
          <a:bodyPr wrap="square" lIns="0" tIns="0" rIns="0" bIns="0" rtlCol="0" anchor="ctr"/>
          <a:lstStyle/>
          <a:p>
            <a:pPr algn="ctr" indent="0" marL="0">
              <a:buNone/>
            </a:pPr>
            <a:r>
              <a:rPr lang="en-US" sz="1300" dirty="0">
                <a:solidFill>
                  <a:schemeClr val="tx1"/>
                </a:solidFill>
                <a:latin typeface="+mj-lt" pitchFamily="34" charset="0"/>
                <a:ea typeface="+mj-lt" pitchFamily="34" charset="-122"/>
                <a:cs typeface="+mj-lt" pitchFamily="34" charset="-120"/>
              </a:rPr>
              <a:t>Limited number of validated vulnerabilities</a:t>
            </a:r>
            <a:endParaRPr lang="en-US" sz="1300" dirty="0"/>
          </a:p>
        </p:txBody>
      </p:sp>
      <p:sp>
        <p:nvSpPr>
          <p:cNvPr id="11" name="Shape 9"/>
          <p:cNvSpPr/>
          <p:nvPr/>
        </p:nvSpPr>
        <p:spPr>
          <a:xfrm>
            <a:off x="4297680" y="1463040"/>
            <a:ext cx="3566160" cy="2468880"/>
          </a:xfrm>
          <a:prstGeom prst="roundRect">
            <a:avLst>
              <a:gd name="adj" fmla="val 3704"/>
            </a:avLst>
          </a:prstGeom>
          <a:solidFill>
            <a:schemeClr val="bg2"/>
          </a:solidFill>
          <a:ln/>
        </p:spPr>
      </p:sp>
      <p:sp>
        <p:nvSpPr>
          <p:cNvPr id="12" name="Text 10"/>
          <p:cNvSpPr txBox="1"/>
          <p:nvPr/>
        </p:nvSpPr>
        <p:spPr>
          <a:xfrm>
            <a:off x="4480560" y="1600200"/>
            <a:ext cx="3200400" cy="411480"/>
          </a:xfrm>
          <a:prstGeom prst="rect">
            <a:avLst/>
          </a:prstGeom>
          <a:noFill/>
          <a:ln/>
        </p:spPr>
        <p:txBody>
          <a:bodyPr wrap="square" lIns="0" tIns="0" rIns="0" bIns="0" rtlCol="0" anchor="t"/>
          <a:lstStyle/>
          <a:p>
            <a:pPr algn="l" indent="0" marL="0">
              <a:buNone/>
            </a:pPr>
            <a:r>
              <a:rPr lang="en-US" sz="1800" dirty="0">
                <a:solidFill>
                  <a:schemeClr val="accent1"/>
                </a:solidFill>
                <a:latin typeface="+mj-lt" pitchFamily="34" charset="0"/>
                <a:ea typeface="+mj-lt" pitchFamily="34" charset="-122"/>
                <a:cs typeface="+mj-lt" pitchFamily="34" charset="-120"/>
              </a:rPr>
              <a:t>Frontier AI (allegedly)</a:t>
            </a:r>
            <a:endParaRPr lang="en-US" sz="1800" dirty="0"/>
          </a:p>
        </p:txBody>
      </p:sp>
      <p:sp>
        <p:nvSpPr>
          <p:cNvPr id="13" name="Text 11"/>
          <p:cNvSpPr txBox="1"/>
          <p:nvPr/>
        </p:nvSpPr>
        <p:spPr>
          <a:xfrm>
            <a:off x="4480560" y="2057400"/>
            <a:ext cx="3200400" cy="274320"/>
          </a:xfrm>
          <a:prstGeom prst="rect">
            <a:avLst/>
          </a:prstGeom>
          <a:noFill/>
          <a:ln/>
        </p:spPr>
        <p:txBody>
          <a:bodyPr wrap="square" lIns="0" tIns="0" rIns="0" bIns="0" rtlCol="0" anchor="t"/>
          <a:lstStyle/>
          <a:p>
            <a:pPr algn="l" indent="0" marL="0">
              <a:buNone/>
            </a:pPr>
            <a:r>
              <a:rPr lang="en-US" sz="1100" dirty="0">
                <a:solidFill>
                  <a:schemeClr val="tx1"/>
                </a:solidFill>
                <a:latin typeface="+mj-lt" pitchFamily="34" charset="0"/>
                <a:ea typeface="+mj-lt" pitchFamily="34" charset="-122"/>
                <a:cs typeface="+mj-lt" pitchFamily="34" charset="-120"/>
              </a:rPr>
              <a:t>AUTOMATED SECURITY ASSESSMENTS</a:t>
            </a:r>
            <a:endParaRPr lang="en-US" sz="1100" dirty="0"/>
          </a:p>
        </p:txBody>
      </p:sp>
      <p:sp>
        <p:nvSpPr>
          <p:cNvPr id="14" name="Text 12"/>
          <p:cNvSpPr txBox="1"/>
          <p:nvPr/>
        </p:nvSpPr>
        <p:spPr>
          <a:xfrm>
            <a:off x="4480560" y="2423160"/>
            <a:ext cx="3200400" cy="1463040"/>
          </a:xfrm>
          <a:prstGeom prst="rect">
            <a:avLst/>
          </a:prstGeom>
          <a:noFill/>
          <a:ln/>
        </p:spPr>
        <p:txBody>
          <a:bodyPr wrap="square" lIns="0" tIns="0" rIns="0" bIns="0" rtlCol="0" anchor="t"/>
          <a:lstStyle/>
          <a:p>
            <a:pPr algn="l" marL="254000" indent="-254000">
              <a:spcAft>
                <a:spcPts val="400"/>
              </a:spcAft>
              <a:buSzPct val="100000"/>
              <a:buChar char="•"/>
            </a:pPr>
            <a:r>
              <a:rPr lang="en-US" sz="1400" dirty="0">
                <a:solidFill>
                  <a:schemeClr val="tx1"/>
                </a:solidFill>
              </a:rPr>
              <a:t>AI-driven security assessments</a:t>
            </a:r>
            <a:endParaRPr lang="en-US" sz="1400" dirty="0"/>
          </a:p>
          <a:p>
            <a:pPr algn="l" marL="254000" indent="-254000">
              <a:spcAft>
                <a:spcPts val="400"/>
              </a:spcAft>
              <a:buSzPct val="100000"/>
              <a:buChar char="•"/>
            </a:pPr>
            <a:r>
              <a:rPr lang="en-US" sz="1400" dirty="0">
                <a:solidFill>
                  <a:schemeClr val="tx1"/>
                </a:solidFill>
              </a:rPr>
              <a:t>No human intervention needed</a:t>
            </a:r>
            <a:endParaRPr lang="en-US" sz="1400" dirty="0"/>
          </a:p>
          <a:p>
            <a:pPr algn="l" marL="254000" indent="-254000">
              <a:spcAft>
                <a:spcPts val="400"/>
              </a:spcAft>
              <a:buSzPct val="100000"/>
              <a:buChar char="•"/>
            </a:pPr>
            <a:r>
              <a:rPr lang="en-US" sz="1400" dirty="0">
                <a:solidFill>
                  <a:schemeClr val="tx1"/>
                </a:solidFill>
              </a:rPr>
              <a:t>Limited knowledge needed</a:t>
            </a:r>
            <a:endParaRPr lang="en-US" sz="1400" dirty="0"/>
          </a:p>
        </p:txBody>
      </p:sp>
      <p:sp>
        <p:nvSpPr>
          <p:cNvPr id="15" name="Shape 13"/>
          <p:cNvSpPr/>
          <p:nvPr/>
        </p:nvSpPr>
        <p:spPr>
          <a:xfrm>
            <a:off x="4297680" y="4114800"/>
            <a:ext cx="3566160" cy="2240280"/>
          </a:xfrm>
          <a:prstGeom prst="roundRect">
            <a:avLst>
              <a:gd name="adj" fmla="val 4082"/>
            </a:avLst>
          </a:prstGeom>
          <a:noFill/>
          <a:ln w="12700">
            <a:solidFill>
              <a:schemeClr val="tx2"/>
            </a:solidFill>
            <a:prstDash val="solid"/>
          </a:ln>
        </p:spPr>
      </p:sp>
      <p:sp>
        <p:nvSpPr>
          <p:cNvPr id="16" name="Text 14"/>
          <p:cNvSpPr txBox="1"/>
          <p:nvPr/>
        </p:nvSpPr>
        <p:spPr>
          <a:xfrm>
            <a:off x="4480560" y="4187952"/>
            <a:ext cx="3200400" cy="1188720"/>
          </a:xfrm>
          <a:prstGeom prst="rect">
            <a:avLst/>
          </a:prstGeom>
          <a:noFill/>
          <a:ln/>
        </p:spPr>
        <p:txBody>
          <a:bodyPr wrap="square" lIns="0" tIns="0" rIns="0" bIns="0" rtlCol="0" anchor="t"/>
          <a:lstStyle/>
          <a:p>
            <a:pPr algn="ctr" indent="0" marL="0">
              <a:spcAft>
                <a:spcPts val="300"/>
              </a:spcAft>
              <a:buNone/>
            </a:pPr>
            <a:r>
              <a:rPr lang="en-US" sz="1300" dirty="0">
                <a:solidFill>
                  <a:schemeClr val="tx1"/>
                </a:solidFill>
              </a:rPr>
              <a:t>Continuous testing</a:t>
            </a:r>
            <a:endParaRPr lang="en-US" sz="1300" dirty="0"/>
          </a:p>
          <a:p>
            <a:pPr algn="ctr" indent="0" marL="0">
              <a:spcAft>
                <a:spcPts val="300"/>
              </a:spcAft>
              <a:buNone/>
            </a:pPr>
            <a:r>
              <a:rPr lang="en-US" sz="1300" dirty="0">
                <a:solidFill>
                  <a:schemeClr val="tx1"/>
                </a:solidFill>
              </a:rPr>
              <a:t>Unlimited in time &amp; scope, limited by budget</a:t>
            </a:r>
            <a:endParaRPr lang="en-US" sz="1300" dirty="0"/>
          </a:p>
          <a:p>
            <a:pPr algn="ctr" indent="0" marL="0">
              <a:spcAft>
                <a:spcPts val="300"/>
              </a:spcAft>
              <a:buNone/>
            </a:pPr>
            <a:r>
              <a:rPr lang="en-US" sz="1300" dirty="0">
                <a:solidFill>
                  <a:schemeClr val="tx1"/>
                </a:solidFill>
              </a:rPr>
              <a:t>Black box approach</a:t>
            </a:r>
            <a:endParaRPr lang="en-US" sz="1300" dirty="0"/>
          </a:p>
        </p:txBody>
      </p:sp>
      <p:sp>
        <p:nvSpPr>
          <p:cNvPr id="17" name="Shape 15"/>
          <p:cNvSpPr/>
          <p:nvPr/>
        </p:nvSpPr>
        <p:spPr>
          <a:xfrm>
            <a:off x="6080760" y="5413248"/>
            <a:ext cx="0" cy="256032"/>
          </a:xfrm>
          <a:prstGeom prst="line">
            <a:avLst/>
          </a:prstGeom>
          <a:noFill/>
          <a:ln w="38100">
            <a:solidFill>
              <a:schemeClr val="accent1"/>
            </a:solidFill>
            <a:prstDash val="solid"/>
            <a:tailEnd type="triangle"/>
          </a:ln>
        </p:spPr>
      </p:sp>
      <p:sp>
        <p:nvSpPr>
          <p:cNvPr id="18" name="Text 16"/>
          <p:cNvSpPr txBox="1"/>
          <p:nvPr/>
        </p:nvSpPr>
        <p:spPr>
          <a:xfrm>
            <a:off x="4480560" y="5715000"/>
            <a:ext cx="3200400" cy="566928"/>
          </a:xfrm>
          <a:prstGeom prst="rect">
            <a:avLst/>
          </a:prstGeom>
          <a:noFill/>
          <a:ln/>
        </p:spPr>
        <p:txBody>
          <a:bodyPr wrap="square" lIns="0" tIns="0" rIns="0" bIns="0" rtlCol="0" anchor="ctr"/>
          <a:lstStyle/>
          <a:p>
            <a:pPr algn="ctr" indent="0" marL="0">
              <a:buNone/>
            </a:pPr>
            <a:r>
              <a:rPr lang="en-US" sz="1300" dirty="0">
                <a:solidFill>
                  <a:schemeClr val="tx1"/>
                </a:solidFill>
                <a:latin typeface="+mj-lt" pitchFamily="34" charset="0"/>
                <a:ea typeface="+mj-lt" pitchFamily="34" charset="-122"/>
                <a:cs typeface="+mj-lt" pitchFamily="34" charset="-120"/>
              </a:rPr>
              <a:t>Large number of validated vulnerabilities</a:t>
            </a:r>
            <a:endParaRPr lang="en-US" sz="1300" dirty="0"/>
          </a:p>
        </p:txBody>
      </p:sp>
      <p:sp>
        <p:nvSpPr>
          <p:cNvPr id="19" name="Shape 17"/>
          <p:cNvSpPr/>
          <p:nvPr/>
        </p:nvSpPr>
        <p:spPr>
          <a:xfrm>
            <a:off x="8046720" y="1463040"/>
            <a:ext cx="3566160" cy="2468880"/>
          </a:xfrm>
          <a:prstGeom prst="roundRect">
            <a:avLst>
              <a:gd name="adj" fmla="val 3704"/>
            </a:avLst>
          </a:prstGeom>
          <a:solidFill>
            <a:schemeClr val="bg2"/>
          </a:solidFill>
          <a:ln/>
        </p:spPr>
      </p:sp>
      <p:sp>
        <p:nvSpPr>
          <p:cNvPr id="20" name="Text 18"/>
          <p:cNvSpPr txBox="1"/>
          <p:nvPr/>
        </p:nvSpPr>
        <p:spPr>
          <a:xfrm>
            <a:off x="8229600" y="1600200"/>
            <a:ext cx="3200400" cy="411480"/>
          </a:xfrm>
          <a:prstGeom prst="rect">
            <a:avLst/>
          </a:prstGeom>
          <a:noFill/>
          <a:ln/>
        </p:spPr>
        <p:txBody>
          <a:bodyPr wrap="square" lIns="0" tIns="0" rIns="0" bIns="0" rtlCol="0" anchor="t"/>
          <a:lstStyle/>
          <a:p>
            <a:pPr algn="l" indent="0" marL="0">
              <a:buNone/>
            </a:pPr>
            <a:r>
              <a:rPr lang="en-US" sz="1800" dirty="0">
                <a:solidFill>
                  <a:schemeClr val="accent1"/>
                </a:solidFill>
                <a:latin typeface="+mj-lt" pitchFamily="34" charset="0"/>
                <a:ea typeface="+mj-lt" pitchFamily="34" charset="-122"/>
                <a:cs typeface="+mj-lt" pitchFamily="34" charset="-120"/>
              </a:rPr>
              <a:t>Automated testing</a:t>
            </a:r>
            <a:endParaRPr lang="en-US" sz="1800" dirty="0"/>
          </a:p>
        </p:txBody>
      </p:sp>
      <p:sp>
        <p:nvSpPr>
          <p:cNvPr id="21" name="Text 19"/>
          <p:cNvSpPr txBox="1"/>
          <p:nvPr/>
        </p:nvSpPr>
        <p:spPr>
          <a:xfrm>
            <a:off x="8229600" y="2057400"/>
            <a:ext cx="3200400" cy="274320"/>
          </a:xfrm>
          <a:prstGeom prst="rect">
            <a:avLst/>
          </a:prstGeom>
          <a:noFill/>
          <a:ln/>
        </p:spPr>
        <p:txBody>
          <a:bodyPr wrap="square" lIns="0" tIns="0" rIns="0" bIns="0" rtlCol="0" anchor="t"/>
          <a:lstStyle/>
          <a:p>
            <a:pPr algn="l" indent="0" marL="0">
              <a:buNone/>
            </a:pPr>
            <a:r>
              <a:rPr lang="en-US" sz="1100" dirty="0">
                <a:solidFill>
                  <a:schemeClr val="tx1"/>
                </a:solidFill>
                <a:latin typeface="+mj-lt" pitchFamily="34" charset="0"/>
                <a:ea typeface="+mj-lt" pitchFamily="34" charset="-122"/>
                <a:cs typeface="+mj-lt" pitchFamily="34" charset="-120"/>
              </a:rPr>
              <a:t>SECURITY SCANS</a:t>
            </a:r>
            <a:endParaRPr lang="en-US" sz="1100" dirty="0"/>
          </a:p>
        </p:txBody>
      </p:sp>
      <p:sp>
        <p:nvSpPr>
          <p:cNvPr id="22" name="Text 20"/>
          <p:cNvSpPr txBox="1"/>
          <p:nvPr/>
        </p:nvSpPr>
        <p:spPr>
          <a:xfrm>
            <a:off x="8229600" y="2423160"/>
            <a:ext cx="3200400" cy="1463040"/>
          </a:xfrm>
          <a:prstGeom prst="rect">
            <a:avLst/>
          </a:prstGeom>
          <a:noFill/>
          <a:ln/>
        </p:spPr>
        <p:txBody>
          <a:bodyPr wrap="square" lIns="0" tIns="0" rIns="0" bIns="0" rtlCol="0" anchor="t"/>
          <a:lstStyle/>
          <a:p>
            <a:pPr algn="l" marL="254000" indent="-254000">
              <a:spcAft>
                <a:spcPts val="400"/>
              </a:spcAft>
              <a:buSzPct val="100000"/>
              <a:buChar char="•"/>
            </a:pPr>
            <a:r>
              <a:rPr lang="en-US" sz="1400" dirty="0">
                <a:solidFill>
                  <a:schemeClr val="tx1"/>
                </a:solidFill>
              </a:rPr>
              <a:t>File system</a:t>
            </a:r>
            <a:endParaRPr lang="en-US" sz="1400" dirty="0"/>
          </a:p>
          <a:p>
            <a:pPr algn="l" marL="254000" indent="-254000">
              <a:spcAft>
                <a:spcPts val="400"/>
              </a:spcAft>
              <a:buSzPct val="100000"/>
              <a:buChar char="•"/>
            </a:pPr>
            <a:r>
              <a:rPr lang="en-US" sz="1400" dirty="0">
                <a:solidFill>
                  <a:schemeClr val="tx1"/>
                </a:solidFill>
              </a:rPr>
              <a:t>Container scanning</a:t>
            </a:r>
            <a:endParaRPr lang="en-US" sz="1400" dirty="0"/>
          </a:p>
          <a:p>
            <a:pPr algn="l" marL="254000" indent="-254000">
              <a:spcAft>
                <a:spcPts val="400"/>
              </a:spcAft>
              <a:buSzPct val="100000"/>
              <a:buChar char="•"/>
            </a:pPr>
            <a:r>
              <a:rPr lang="en-US" sz="1400" dirty="0">
                <a:solidFill>
                  <a:schemeClr val="tx1"/>
                </a:solidFill>
              </a:rPr>
              <a:t>Code scanning</a:t>
            </a:r>
            <a:endParaRPr lang="en-US" sz="1400" dirty="0"/>
          </a:p>
        </p:txBody>
      </p:sp>
      <p:sp>
        <p:nvSpPr>
          <p:cNvPr id="23" name="Shape 21"/>
          <p:cNvSpPr/>
          <p:nvPr/>
        </p:nvSpPr>
        <p:spPr>
          <a:xfrm>
            <a:off x="8046720" y="4114800"/>
            <a:ext cx="3566160" cy="2240280"/>
          </a:xfrm>
          <a:prstGeom prst="roundRect">
            <a:avLst>
              <a:gd name="adj" fmla="val 4082"/>
            </a:avLst>
          </a:prstGeom>
          <a:noFill/>
          <a:ln w="12700">
            <a:solidFill>
              <a:schemeClr val="tx2"/>
            </a:solidFill>
            <a:prstDash val="solid"/>
          </a:ln>
        </p:spPr>
      </p:sp>
      <p:sp>
        <p:nvSpPr>
          <p:cNvPr id="24" name="Text 22"/>
          <p:cNvSpPr txBox="1"/>
          <p:nvPr/>
        </p:nvSpPr>
        <p:spPr>
          <a:xfrm>
            <a:off x="8229600" y="4187952"/>
            <a:ext cx="3200400" cy="1188720"/>
          </a:xfrm>
          <a:prstGeom prst="rect">
            <a:avLst/>
          </a:prstGeom>
          <a:noFill/>
          <a:ln/>
        </p:spPr>
        <p:txBody>
          <a:bodyPr wrap="square" lIns="0" tIns="0" rIns="0" bIns="0" rtlCol="0" anchor="t"/>
          <a:lstStyle/>
          <a:p>
            <a:pPr algn="ctr" indent="0" marL="0">
              <a:spcAft>
                <a:spcPts val="300"/>
              </a:spcAft>
              <a:buNone/>
            </a:pPr>
            <a:r>
              <a:rPr lang="en-US" sz="1300" dirty="0">
                <a:solidFill>
                  <a:schemeClr val="tx1"/>
                </a:solidFill>
              </a:rPr>
              <a:t>One test per commit / per month</a:t>
            </a:r>
            <a:endParaRPr lang="en-US" sz="1300" dirty="0"/>
          </a:p>
          <a:p>
            <a:pPr algn="ctr" indent="0" marL="0">
              <a:spcAft>
                <a:spcPts val="300"/>
              </a:spcAft>
              <a:buNone/>
            </a:pPr>
            <a:r>
              <a:rPr lang="en-US" sz="1300" dirty="0">
                <a:solidFill>
                  <a:schemeClr val="tx1"/>
                </a:solidFill>
              </a:rPr>
              <a:t>Unlimited in scope, limited by budget &amp; time</a:t>
            </a:r>
            <a:endParaRPr lang="en-US" sz="1300" dirty="0"/>
          </a:p>
          <a:p>
            <a:pPr algn="ctr" indent="0" marL="0">
              <a:spcAft>
                <a:spcPts val="300"/>
              </a:spcAft>
              <a:buNone/>
            </a:pPr>
            <a:r>
              <a:rPr lang="en-US" sz="1300" dirty="0">
                <a:solidFill>
                  <a:schemeClr val="tx1"/>
                </a:solidFill>
              </a:rPr>
              <a:t>White box approach</a:t>
            </a:r>
            <a:endParaRPr lang="en-US" sz="1300" dirty="0"/>
          </a:p>
        </p:txBody>
      </p:sp>
      <p:sp>
        <p:nvSpPr>
          <p:cNvPr id="25" name="Shape 23"/>
          <p:cNvSpPr/>
          <p:nvPr/>
        </p:nvSpPr>
        <p:spPr>
          <a:xfrm>
            <a:off x="9829800" y="5413248"/>
            <a:ext cx="0" cy="256032"/>
          </a:xfrm>
          <a:prstGeom prst="line">
            <a:avLst/>
          </a:prstGeom>
          <a:noFill/>
          <a:ln w="38100">
            <a:solidFill>
              <a:schemeClr val="accent1"/>
            </a:solidFill>
            <a:prstDash val="solid"/>
            <a:tailEnd type="triangle"/>
          </a:ln>
        </p:spPr>
      </p:sp>
      <p:sp>
        <p:nvSpPr>
          <p:cNvPr id="26" name="Text 24"/>
          <p:cNvSpPr txBox="1"/>
          <p:nvPr/>
        </p:nvSpPr>
        <p:spPr>
          <a:xfrm>
            <a:off x="8229600" y="5715000"/>
            <a:ext cx="3200400" cy="566928"/>
          </a:xfrm>
          <a:prstGeom prst="rect">
            <a:avLst/>
          </a:prstGeom>
          <a:noFill/>
          <a:ln/>
        </p:spPr>
        <p:txBody>
          <a:bodyPr wrap="square" lIns="0" tIns="0" rIns="0" bIns="0" rtlCol="0" anchor="ctr"/>
          <a:lstStyle/>
          <a:p>
            <a:pPr algn="ctr" indent="0" marL="0">
              <a:buNone/>
            </a:pPr>
            <a:r>
              <a:rPr lang="en-US" sz="1300" dirty="0">
                <a:solidFill>
                  <a:schemeClr val="tx1"/>
                </a:solidFill>
                <a:latin typeface="+mj-lt" pitchFamily="34" charset="0"/>
                <a:ea typeface="+mj-lt" pitchFamily="34" charset="-122"/>
                <a:cs typeface="+mj-lt" pitchFamily="34" charset="-120"/>
              </a:rPr>
              <a:t>Large number of unvalidated vulnerabilities</a:t>
            </a:r>
            <a:endParaRPr lang="en-US" sz="13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It’s not just a security challenge</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Reported vulnerabilities per month, since 1988</a:t>
            </a:r>
            <a:endParaRPr lang="en-US" sz="1800" dirty="0"/>
          </a:p>
        </p:txBody>
      </p:sp>
      <p:pic>
        <p:nvPicPr>
          <p:cNvPr id="4" name="Image 0" descr="Chart: reported vulnerabilities per month since 1988, spiking recently">    </p:cNvPr>
          <p:cNvPicPr>
            <a:picLocks noChangeAspect="1"/>
          </p:cNvPicPr>
          <p:nvPr/>
        </p:nvPicPr>
        <p:blipFill>
          <a:blip r:embed="rId1"/>
          <a:stretch>
            <a:fillRect/>
          </a:stretch>
        </p:blipFill>
        <p:spPr>
          <a:xfrm>
            <a:off x="1069848" y="2194560"/>
            <a:ext cx="10058400" cy="3712464"/>
          </a:xfrm>
          <a:prstGeom prst="rect">
            <a:avLst/>
          </a:prstGeom>
        </p:spPr>
      </p:pic>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It’s not just a security challenge</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Zoom in: a clear trend change around Mythos’ release</a:t>
            </a:r>
            <a:endParaRPr lang="en-US" sz="1800" dirty="0"/>
          </a:p>
        </p:txBody>
      </p:sp>
      <p:pic>
        <p:nvPicPr>
          <p:cNvPr id="4" name="Image 0" descr="Chart: reported vulnerabilities per month over the last two years, rising steeply">    </p:cNvPr>
          <p:cNvPicPr>
            <a:picLocks noChangeAspect="1"/>
          </p:cNvPicPr>
          <p:nvPr/>
        </p:nvPicPr>
        <p:blipFill>
          <a:blip r:embed="rId1"/>
          <a:stretch>
            <a:fillRect/>
          </a:stretch>
        </p:blipFill>
        <p:spPr>
          <a:xfrm>
            <a:off x="2697480" y="2011680"/>
            <a:ext cx="6793992" cy="4206240"/>
          </a:xfrm>
          <a:prstGeom prst="rect">
            <a:avLst/>
          </a:prstGeom>
        </p:spPr>
      </p:pic>
      <p:sp>
        <p:nvSpPr>
          <p:cNvPr id="5" name="Shape 2"/>
          <p:cNvSpPr/>
          <p:nvPr/>
        </p:nvSpPr>
        <p:spPr>
          <a:xfrm>
            <a:off x="7722474" y="3840480"/>
            <a:ext cx="548640" cy="548640"/>
          </a:xfrm>
          <a:prstGeom prst="ellipse">
            <a:avLst/>
          </a:prstGeom>
          <a:noFill/>
          <a:ln w="38100">
            <a:solidFill>
              <a:schemeClr val="accent1"/>
            </a:solidFill>
            <a:prstDash val="solid"/>
          </a:ln>
        </p:spPr>
      </p:sp>
      <p:sp>
        <p:nvSpPr>
          <p:cNvPr id="6" name="Text 3"/>
          <p:cNvSpPr/>
          <p:nvPr/>
        </p:nvSpPr>
        <p:spPr>
          <a:xfrm>
            <a:off x="3200400" y="2514600"/>
            <a:ext cx="2468880" cy="502920"/>
          </a:xfrm>
          <a:prstGeom prst="roundRect">
            <a:avLst>
              <a:gd name="adj" fmla="val 18182"/>
            </a:avLst>
          </a:prstGeom>
          <a:solidFill>
            <a:schemeClr val="accent1"/>
          </a:solidFill>
          <a:ln/>
        </p:spPr>
        <p:txBody>
          <a:bodyPr wrap="square" lIns="73152" tIns="38100" rIns="73152" bIns="38100" rtlCol="0" anchor="ctr"/>
          <a:lstStyle/>
          <a:p>
            <a:pPr algn="ctr" indent="0" marL="0">
              <a:buNone/>
            </a:pPr>
            <a:r>
              <a:rPr lang="en-US" sz="1600" dirty="0">
                <a:solidFill>
                  <a:schemeClr val="bg1"/>
                </a:solidFill>
                <a:latin typeface="+mj-lt" pitchFamily="34" charset="0"/>
                <a:ea typeface="+mj-lt" pitchFamily="34" charset="-122"/>
                <a:cs typeface="+mj-lt" pitchFamily="34" charset="-120"/>
              </a:rPr>
              <a:t>Mythos announced</a:t>
            </a:r>
            <a:endParaRPr lang="en-US" sz="1600" dirty="0"/>
          </a:p>
        </p:txBody>
      </p:sp>
      <p:sp>
        <p:nvSpPr>
          <p:cNvPr id="7" name="Shape 4"/>
          <p:cNvSpPr/>
          <p:nvPr/>
        </p:nvSpPr>
        <p:spPr>
          <a:xfrm>
            <a:off x="5669280" y="2788920"/>
            <a:ext cx="1965960" cy="1143000"/>
          </a:xfrm>
          <a:prstGeom prst="line">
            <a:avLst/>
          </a:prstGeom>
          <a:noFill/>
          <a:ln w="31750">
            <a:solidFill>
              <a:schemeClr val="accent1"/>
            </a:solidFill>
            <a:prstDash val="solid"/>
            <a:tailEnd type="triangle"/>
          </a:ln>
        </p:spPr>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Two challenges for development</a:t>
            </a:r>
            <a:endParaRPr lang="en-US" sz="3600" dirty="0"/>
          </a:p>
        </p:txBody>
      </p:sp>
      <p:sp>
        <p:nvSpPr>
          <p:cNvPr id="3" name="Shape 1"/>
          <p:cNvSpPr/>
          <p:nvPr/>
        </p:nvSpPr>
        <p:spPr>
          <a:xfrm>
            <a:off x="822960" y="1600200"/>
            <a:ext cx="5166360" cy="3017520"/>
          </a:xfrm>
          <a:prstGeom prst="roundRect">
            <a:avLst>
              <a:gd name="adj" fmla="val 4242"/>
            </a:avLst>
          </a:prstGeom>
          <a:solidFill>
            <a:schemeClr val="bg2"/>
          </a:solidFill>
          <a:ln/>
        </p:spPr>
      </p:sp>
      <p:sp>
        <p:nvSpPr>
          <p:cNvPr id="4" name="Text 2"/>
          <p:cNvSpPr/>
          <p:nvPr/>
        </p:nvSpPr>
        <p:spPr>
          <a:xfrm>
            <a:off x="1097280" y="1874520"/>
            <a:ext cx="548640" cy="5486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200" dirty="0">
                <a:solidFill>
                  <a:schemeClr val="bg1"/>
                </a:solidFill>
                <a:latin typeface="+mj-lt" pitchFamily="34" charset="0"/>
                <a:ea typeface="+mj-lt" pitchFamily="34" charset="-122"/>
                <a:cs typeface="+mj-lt" pitchFamily="34" charset="-120"/>
              </a:rPr>
              <a:t>1</a:t>
            </a:r>
            <a:endParaRPr lang="en-US" sz="2200" dirty="0"/>
          </a:p>
        </p:txBody>
      </p:sp>
      <p:sp>
        <p:nvSpPr>
          <p:cNvPr id="5" name="Text 3"/>
          <p:cNvSpPr txBox="1"/>
          <p:nvPr/>
        </p:nvSpPr>
        <p:spPr>
          <a:xfrm>
            <a:off x="1828800" y="1828800"/>
            <a:ext cx="3931920" cy="685800"/>
          </a:xfrm>
          <a:prstGeom prst="rect">
            <a:avLst/>
          </a:prstGeom>
          <a:noFill/>
          <a:ln/>
        </p:spPr>
        <p:txBody>
          <a:bodyPr wrap="square" lIns="0" tIns="0" rIns="0" bIns="0" rtlCol="0" anchor="ctr"/>
          <a:lstStyle/>
          <a:p>
            <a:pPr algn="l" indent="0" marL="0">
              <a:buNone/>
            </a:pPr>
            <a:r>
              <a:rPr lang="en-US" sz="2200" dirty="0">
                <a:solidFill>
                  <a:schemeClr val="tx1"/>
                </a:solidFill>
                <a:latin typeface="+mj-lt" pitchFamily="34" charset="0"/>
                <a:ea typeface="+mj-lt" pitchFamily="34" charset="-122"/>
                <a:cs typeface="+mj-lt" pitchFamily="34" charset="-120"/>
              </a:rPr>
              <a:t>Keep dependencies up to date</a:t>
            </a:r>
            <a:endParaRPr lang="en-US" sz="2200" dirty="0"/>
          </a:p>
        </p:txBody>
      </p:sp>
      <p:sp>
        <p:nvSpPr>
          <p:cNvPr id="6" name="Text 4"/>
          <p:cNvSpPr txBox="1"/>
          <p:nvPr/>
        </p:nvSpPr>
        <p:spPr>
          <a:xfrm>
            <a:off x="1097280" y="2743200"/>
            <a:ext cx="4663440" cy="1737360"/>
          </a:xfrm>
          <a:prstGeom prst="rect">
            <a:avLst/>
          </a:prstGeom>
          <a:noFill/>
          <a:ln/>
        </p:spPr>
        <p:txBody>
          <a:bodyPr wrap="square" lIns="0" tIns="0" rIns="0" bIns="0" rtlCol="0" anchor="t"/>
          <a:lstStyle/>
          <a:p>
            <a:pPr algn="l" marL="254000" indent="-254000">
              <a:spcAft>
                <a:spcPts val="1000"/>
              </a:spcAft>
              <a:buSzPct val="100000"/>
              <a:buChar char="•"/>
            </a:pPr>
            <a:r>
              <a:rPr lang="en-US" sz="1800" dirty="0">
                <a:solidFill>
                  <a:schemeClr val="tx1"/>
                </a:solidFill>
              </a:rPr>
              <a:t>Updates are more frequent and contain more fixes</a:t>
            </a:r>
            <a:endParaRPr lang="en-US" sz="1800" dirty="0"/>
          </a:p>
          <a:p>
            <a:pPr algn="l" marL="254000" indent="-254000">
              <a:buSzPct val="100000"/>
              <a:buChar char="•"/>
            </a:pPr>
            <a:r>
              <a:rPr lang="en-US" sz="1800" dirty="0">
                <a:solidFill>
                  <a:schemeClr val="tx1"/>
                </a:solidFill>
              </a:rPr>
              <a:t>… but the supply chain is also being targeted</a:t>
            </a:r>
            <a:endParaRPr lang="en-US" sz="1800" dirty="0"/>
          </a:p>
        </p:txBody>
      </p:sp>
      <p:sp>
        <p:nvSpPr>
          <p:cNvPr id="7" name="Shape 5"/>
          <p:cNvSpPr/>
          <p:nvPr/>
        </p:nvSpPr>
        <p:spPr>
          <a:xfrm>
            <a:off x="6199632" y="1600200"/>
            <a:ext cx="5166360" cy="3017520"/>
          </a:xfrm>
          <a:prstGeom prst="roundRect">
            <a:avLst>
              <a:gd name="adj" fmla="val 4242"/>
            </a:avLst>
          </a:prstGeom>
          <a:solidFill>
            <a:schemeClr val="bg2"/>
          </a:solidFill>
          <a:ln/>
        </p:spPr>
      </p:sp>
      <p:sp>
        <p:nvSpPr>
          <p:cNvPr id="8" name="Text 6"/>
          <p:cNvSpPr/>
          <p:nvPr/>
        </p:nvSpPr>
        <p:spPr>
          <a:xfrm>
            <a:off x="6473952" y="1874520"/>
            <a:ext cx="548640" cy="5486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200" dirty="0">
                <a:solidFill>
                  <a:schemeClr val="bg1"/>
                </a:solidFill>
                <a:latin typeface="+mj-lt" pitchFamily="34" charset="0"/>
                <a:ea typeface="+mj-lt" pitchFamily="34" charset="-122"/>
                <a:cs typeface="+mj-lt" pitchFamily="34" charset="-120"/>
              </a:rPr>
              <a:t>2</a:t>
            </a:r>
            <a:endParaRPr lang="en-US" sz="2200" dirty="0"/>
          </a:p>
        </p:txBody>
      </p:sp>
      <p:sp>
        <p:nvSpPr>
          <p:cNvPr id="9" name="Text 7"/>
          <p:cNvSpPr txBox="1"/>
          <p:nvPr/>
        </p:nvSpPr>
        <p:spPr>
          <a:xfrm>
            <a:off x="7205472" y="1828800"/>
            <a:ext cx="3931920" cy="685800"/>
          </a:xfrm>
          <a:prstGeom prst="rect">
            <a:avLst/>
          </a:prstGeom>
          <a:noFill/>
          <a:ln/>
        </p:spPr>
        <p:txBody>
          <a:bodyPr wrap="square" lIns="0" tIns="0" rIns="0" bIns="0" rtlCol="0" anchor="ctr"/>
          <a:lstStyle/>
          <a:p>
            <a:pPr algn="l" indent="0" marL="0">
              <a:buNone/>
            </a:pPr>
            <a:r>
              <a:rPr lang="en-US" sz="2200" dirty="0">
                <a:solidFill>
                  <a:schemeClr val="tx1"/>
                </a:solidFill>
                <a:latin typeface="+mj-lt" pitchFamily="34" charset="0"/>
                <a:ea typeface="+mj-lt" pitchFamily="34" charset="-122"/>
                <a:cs typeface="+mj-lt" pitchFamily="34" charset="-120"/>
              </a:rPr>
              <a:t>Fix vulnerabilities in proprietary code</a:t>
            </a:r>
            <a:endParaRPr lang="en-US" sz="2200" dirty="0"/>
          </a:p>
        </p:txBody>
      </p:sp>
      <p:sp>
        <p:nvSpPr>
          <p:cNvPr id="10" name="Text 8"/>
          <p:cNvSpPr txBox="1"/>
          <p:nvPr/>
        </p:nvSpPr>
        <p:spPr>
          <a:xfrm>
            <a:off x="6473952" y="2743200"/>
            <a:ext cx="4663440" cy="1737360"/>
          </a:xfrm>
          <a:prstGeom prst="rect">
            <a:avLst/>
          </a:prstGeom>
          <a:noFill/>
          <a:ln/>
        </p:spPr>
        <p:txBody>
          <a:bodyPr wrap="square" lIns="0" tIns="0" rIns="0" bIns="0" rtlCol="0" anchor="t"/>
          <a:lstStyle/>
          <a:p>
            <a:pPr algn="l" marL="254000" indent="-254000">
              <a:spcAft>
                <a:spcPts val="1000"/>
              </a:spcAft>
              <a:buSzPct val="100000"/>
              <a:buChar char="•"/>
            </a:pPr>
            <a:r>
              <a:rPr lang="en-US" sz="1800" dirty="0">
                <a:solidFill>
                  <a:schemeClr val="tx1"/>
                </a:solidFill>
              </a:rPr>
              <a:t>Changes may introduce new bugs</a:t>
            </a:r>
            <a:endParaRPr lang="en-US" sz="1800" dirty="0"/>
          </a:p>
          <a:p>
            <a:pPr algn="l" marL="254000" indent="-254000">
              <a:buSzPct val="100000"/>
              <a:buChar char="•"/>
            </a:pPr>
            <a:r>
              <a:rPr lang="en-US" sz="1800" dirty="0">
                <a:solidFill>
                  <a:schemeClr val="tx1"/>
                </a:solidFill>
              </a:rPr>
              <a:t>Hundreds of millions of lines of code → thousands of vulnerabilities</a:t>
            </a:r>
            <a:endParaRPr lang="en-US" sz="1800" dirty="0"/>
          </a:p>
        </p:txBody>
      </p:sp>
      <p:sp>
        <p:nvSpPr>
          <p:cNvPr id="11" name="Shape 9"/>
          <p:cNvSpPr/>
          <p:nvPr/>
        </p:nvSpPr>
        <p:spPr>
          <a:xfrm>
            <a:off x="822960" y="4846320"/>
            <a:ext cx="10543032" cy="1463040"/>
          </a:xfrm>
          <a:prstGeom prst="roundRect">
            <a:avLst>
              <a:gd name="adj" fmla="val 8750"/>
            </a:avLst>
          </a:prstGeom>
          <a:solidFill>
            <a:schemeClr val="accent4"/>
          </a:solidFill>
          <a:ln/>
        </p:spPr>
      </p:sp>
      <p:sp>
        <p:nvSpPr>
          <p:cNvPr id="12" name="Text 10"/>
          <p:cNvSpPr txBox="1"/>
          <p:nvPr/>
        </p:nvSpPr>
        <p:spPr>
          <a:xfrm>
            <a:off x="1097280" y="4937760"/>
            <a:ext cx="9966960" cy="502920"/>
          </a:xfrm>
          <a:prstGeom prst="rect">
            <a:avLst/>
          </a:prstGeom>
          <a:noFill/>
          <a:ln/>
        </p:spPr>
        <p:txBody>
          <a:bodyPr wrap="square" lIns="0" tIns="0" rIns="0" bIns="0" rtlCol="0" anchor="ctr"/>
          <a:lstStyle/>
          <a:p>
            <a:pPr algn="l" indent="0" marL="0">
              <a:buNone/>
            </a:pPr>
            <a:r>
              <a:rPr lang="en-US" sz="2200" dirty="0">
                <a:solidFill>
                  <a:schemeClr val="accent1"/>
                </a:solidFill>
                <a:latin typeface="+mj-lt" pitchFamily="34" charset="0"/>
                <a:ea typeface="+mj-lt" pitchFamily="34" charset="-122"/>
                <a:cs typeface="+mj-lt" pitchFamily="34" charset="-120"/>
              </a:rPr>
              <a:t>Manual patching can’t keep up</a:t>
            </a:r>
            <a:endParaRPr lang="en-US" sz="2200" dirty="0"/>
          </a:p>
        </p:txBody>
      </p:sp>
      <p:sp>
        <p:nvSpPr>
          <p:cNvPr id="13" name="Text 11"/>
          <p:cNvSpPr txBox="1"/>
          <p:nvPr/>
        </p:nvSpPr>
        <p:spPr>
          <a:xfrm>
            <a:off x="1097280" y="5468112"/>
            <a:ext cx="4846320" cy="731520"/>
          </a:xfrm>
          <a:prstGeom prst="rect">
            <a:avLst/>
          </a:prstGeom>
          <a:noFill/>
          <a:ln/>
        </p:spPr>
        <p:txBody>
          <a:bodyPr wrap="square" lIns="0" tIns="0" rIns="0" bIns="0" rtlCol="0" anchor="t"/>
          <a:lstStyle/>
          <a:p>
            <a:pPr algn="l" marL="254000" indent="-254000">
              <a:buSzPct val="100000"/>
              <a:buChar char="•"/>
            </a:pPr>
            <a:r>
              <a:rPr lang="en-US" sz="1800" dirty="0">
                <a:solidFill>
                  <a:schemeClr val="tx1"/>
                </a:solidFill>
              </a:rPr>
              <a:t>Test coverage is more important than ever</a:t>
            </a:r>
            <a:endParaRPr lang="en-US" sz="1800" dirty="0"/>
          </a:p>
        </p:txBody>
      </p:sp>
      <p:sp>
        <p:nvSpPr>
          <p:cNvPr id="14" name="Text 12"/>
          <p:cNvSpPr txBox="1"/>
          <p:nvPr/>
        </p:nvSpPr>
        <p:spPr>
          <a:xfrm>
            <a:off x="6199632" y="5468112"/>
            <a:ext cx="4937760" cy="731520"/>
          </a:xfrm>
          <a:prstGeom prst="rect">
            <a:avLst/>
          </a:prstGeom>
          <a:noFill/>
          <a:ln/>
        </p:spPr>
        <p:txBody>
          <a:bodyPr wrap="square" lIns="0" tIns="0" rIns="0" bIns="0" rtlCol="0" anchor="t"/>
          <a:lstStyle/>
          <a:p>
            <a:pPr algn="l" marL="254000" indent="-254000">
              <a:buSzPct val="100000"/>
              <a:buChar char="•"/>
            </a:pPr>
            <a:r>
              <a:rPr lang="en-US" sz="1800" dirty="0">
                <a:solidFill>
                  <a:schemeClr val="tx1"/>
                </a:solidFill>
              </a:rPr>
              <a:t>Feed the scan results to AI to auto-generate patches</a:t>
            </a:r>
            <a:endParaRPr lang="en-US" sz="18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Aikido: a strategic partnership</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Press release · Ghent &amp; Brussels, 5 August 2026</a:t>
            </a:r>
            <a:endParaRPr lang="en-US" sz="1800" dirty="0"/>
          </a:p>
        </p:txBody>
      </p:sp>
      <p:sp>
        <p:nvSpPr>
          <p:cNvPr id="4" name="Shape 2"/>
          <p:cNvSpPr/>
          <p:nvPr/>
        </p:nvSpPr>
        <p:spPr>
          <a:xfrm>
            <a:off x="1801368" y="1965960"/>
            <a:ext cx="8595360" cy="4389120"/>
          </a:xfrm>
          <a:prstGeom prst="rect">
            <a:avLst/>
          </a:prstGeom>
          <a:noFill/>
          <a:ln w="12700">
            <a:solidFill>
              <a:schemeClr val="accent5"/>
            </a:solidFill>
            <a:prstDash val="solid"/>
          </a:ln>
        </p:spPr>
      </p:sp>
      <p:pic>
        <p:nvPicPr>
          <p:cNvPr id="5" name="Image 0" descr="Press release: Aikido and Belfius are building the next generation of cybersecurity together">    </p:cNvPr>
          <p:cNvPicPr>
            <a:picLocks noChangeAspect="1"/>
          </p:cNvPicPr>
          <p:nvPr/>
        </p:nvPicPr>
        <p:blipFill>
          <a:blip r:embed="rId1"/>
          <a:stretch>
            <a:fillRect/>
          </a:stretch>
        </p:blipFill>
        <p:spPr>
          <a:xfrm>
            <a:off x="1801368" y="1965960"/>
            <a:ext cx="8595360" cy="4389120"/>
          </a:xfrm>
          <a:prstGeom prst="rect">
            <a:avLst/>
          </a:prstGeom>
        </p:spPr>
      </p:pic>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Aikido: what’s in the box</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A physical AI appliance in our datacenter, running white-box security assessments</a:t>
            </a:r>
            <a:endParaRPr lang="en-US" sz="1800" dirty="0"/>
          </a:p>
        </p:txBody>
      </p:sp>
      <p:pic>
        <p:nvPicPr>
          <p:cNvPr id="4" name="Image 0" descr="The Belfius AI appliance: a red and white server cabinet in a datacenter">    </p:cNvPr>
          <p:cNvPicPr>
            <a:picLocks noChangeAspect="1"/>
          </p:cNvPicPr>
          <p:nvPr/>
        </p:nvPicPr>
        <p:blipFill>
          <a:blip r:embed="rId1"/>
          <a:stretch>
            <a:fillRect/>
          </a:stretch>
        </p:blipFill>
        <p:spPr>
          <a:xfrm>
            <a:off x="822960" y="2240280"/>
            <a:ext cx="4206240" cy="3730752"/>
          </a:xfrm>
          <a:prstGeom prst="rect">
            <a:avLst/>
          </a:prstGeom>
        </p:spPr>
      </p:pic>
      <p:sp>
        <p:nvSpPr>
          <p:cNvPr id="5" name="Text 2"/>
          <p:cNvSpPr txBox="1"/>
          <p:nvPr/>
        </p:nvSpPr>
        <p:spPr>
          <a:xfrm>
            <a:off x="5577840" y="2148840"/>
            <a:ext cx="5943600" cy="4023360"/>
          </a:xfrm>
          <a:prstGeom prst="rect">
            <a:avLst/>
          </a:prstGeom>
          <a:noFill/>
          <a:ln/>
        </p:spPr>
        <p:txBody>
          <a:bodyPr wrap="square" lIns="0" tIns="0" rIns="0" bIns="0" rtlCol="0" anchor="ctr"/>
          <a:lstStyle/>
          <a:p>
            <a:pPr algn="l" marL="254000" indent="-254000">
              <a:spcAft>
                <a:spcPts val="1400"/>
              </a:spcAft>
              <a:buSzPct val="100000"/>
              <a:buChar char="•"/>
            </a:pPr>
            <a:r>
              <a:rPr lang="en-US" sz="2000" dirty="0">
                <a:solidFill>
                  <a:schemeClr val="tx1"/>
                </a:solidFill>
                <a:latin typeface="+mj-lt" pitchFamily="34" charset="0"/>
                <a:ea typeface="+mj-lt" pitchFamily="34" charset="-122"/>
                <a:cs typeface="+mj-lt" pitchFamily="34" charset="-120"/>
              </a:rPr>
              <a:t>A hardware appliance</a:t>
            </a:r>
            <a:pPr algn="l" indent="0" marL="0">
              <a:spcAft>
                <a:spcPts val="1400"/>
              </a:spcAft>
              <a:buNone/>
            </a:pPr>
            <a:r>
              <a:rPr lang="en-US" sz="2000" dirty="0">
                <a:solidFill>
                  <a:schemeClr val="tx1"/>
                </a:solidFill>
              </a:rPr>
              <a:t> placed in our datacenter</a:t>
            </a:r>
            <a:endParaRPr lang="en-US" sz="2000" dirty="0"/>
          </a:p>
          <a:p>
            <a:pPr algn="l" marL="254000" indent="-254000">
              <a:spcAft>
                <a:spcPts val="1400"/>
              </a:spcAft>
              <a:buSzPct val="100000"/>
              <a:buChar char="•"/>
            </a:pPr>
            <a:r>
              <a:rPr lang="en-US" sz="2000" dirty="0">
                <a:solidFill>
                  <a:schemeClr val="tx1"/>
                </a:solidFill>
              </a:rPr>
              <a:t>The hardware needed to run an </a:t>
            </a:r>
            <a:pPr algn="l" indent="0" marL="0">
              <a:spcAft>
                <a:spcPts val="1400"/>
              </a:spcAft>
              <a:buNone/>
            </a:pPr>
            <a:r>
              <a:rPr lang="en-US" sz="2000" dirty="0">
                <a:solidFill>
                  <a:schemeClr val="tx1"/>
                </a:solidFill>
                <a:latin typeface="+mj-lt" pitchFamily="34" charset="0"/>
                <a:ea typeface="+mj-lt" pitchFamily="34" charset="-122"/>
                <a:cs typeface="+mj-lt" pitchFamily="34" charset="-120"/>
              </a:rPr>
              <a:t>open-source AI model</a:t>
            </a:r>
            <a:endParaRPr lang="en-US" sz="2000" dirty="0"/>
          </a:p>
          <a:p>
            <a:pPr algn="l" marL="254000" indent="-254000">
              <a:spcAft>
                <a:spcPts val="1400"/>
              </a:spcAft>
              <a:buSzPct val="100000"/>
              <a:buChar char="•"/>
            </a:pPr>
            <a:r>
              <a:rPr lang="en-US" sz="2000" dirty="0">
                <a:solidFill>
                  <a:schemeClr val="tx1"/>
                </a:solidFill>
              </a:rPr>
              <a:t>The software to use this model for </a:t>
            </a:r>
            <a:pPr algn="l" indent="0" marL="0">
              <a:spcAft>
                <a:spcPts val="1400"/>
              </a:spcAft>
              <a:buNone/>
            </a:pPr>
            <a:r>
              <a:rPr lang="en-US" sz="2000" dirty="0">
                <a:solidFill>
                  <a:schemeClr val="tx1"/>
                </a:solidFill>
                <a:latin typeface="+mj-lt" pitchFamily="34" charset="0"/>
                <a:ea typeface="+mj-lt" pitchFamily="34" charset="-122"/>
                <a:cs typeface="+mj-lt" pitchFamily="34" charset="-120"/>
              </a:rPr>
              <a:t>white-box security assessments</a:t>
            </a:r>
            <a:endParaRPr lang="en-US" sz="2000" dirty="0"/>
          </a:p>
          <a:p>
            <a:pPr algn="l" marL="254000" indent="-254000">
              <a:spcAft>
                <a:spcPts val="1400"/>
              </a:spcAft>
              <a:buSzPct val="100000"/>
              <a:buChar char="•"/>
            </a:pPr>
            <a:r>
              <a:rPr lang="en-US" sz="2000" dirty="0">
                <a:solidFill>
                  <a:schemeClr val="tx1"/>
                </a:solidFill>
              </a:rPr>
              <a:t>The R&amp;D into </a:t>
            </a:r>
            <a:pPr algn="l" indent="0" marL="0">
              <a:spcAft>
                <a:spcPts val="1400"/>
              </a:spcAft>
              <a:buNone/>
            </a:pPr>
            <a:r>
              <a:rPr lang="en-US" sz="2000" dirty="0">
                <a:solidFill>
                  <a:schemeClr val="tx1"/>
                </a:solidFill>
                <a:latin typeface="+mj-lt" pitchFamily="34" charset="0"/>
                <a:ea typeface="+mj-lt" pitchFamily="34" charset="-122"/>
                <a:cs typeface="+mj-lt" pitchFamily="34" charset="-120"/>
              </a:rPr>
              <a:t>new models</a:t>
            </a:r>
            <a:endParaRPr lang="en-US" sz="2000" dirty="0"/>
          </a:p>
          <a:p>
            <a:pPr algn="l" marL="254000" indent="-254000">
              <a:buSzPct val="100000"/>
              <a:buChar char="•"/>
            </a:pPr>
            <a:r>
              <a:rPr lang="en-US" sz="2000" dirty="0">
                <a:solidFill>
                  <a:schemeClr val="tx1"/>
                </a:solidFill>
              </a:rPr>
              <a:t>The </a:t>
            </a:r>
            <a:pPr algn="l" indent="0" marL="0">
              <a:buNone/>
            </a:pPr>
            <a:r>
              <a:rPr lang="en-US" sz="2000" dirty="0">
                <a:solidFill>
                  <a:schemeClr val="tx1"/>
                </a:solidFill>
                <a:latin typeface="+mj-lt" pitchFamily="34" charset="0"/>
                <a:ea typeface="+mj-lt" pitchFamily="34" charset="-122"/>
                <a:cs typeface="+mj-lt" pitchFamily="34" charset="-120"/>
              </a:rPr>
              <a:t>support</a:t>
            </a:r>
            <a:pPr algn="l" indent="0" marL="0">
              <a:buNone/>
            </a:pPr>
            <a:r>
              <a:rPr lang="en-US" sz="2000" dirty="0">
                <a:solidFill>
                  <a:schemeClr val="tx1"/>
                </a:solidFill>
              </a:rPr>
              <a:t> for hardware and software maintenance</a:t>
            </a:r>
            <a:endParaRPr lang="en-US" sz="20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Aikido: how it works</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A closed loop from scoping to remediation</a:t>
            </a:r>
            <a:endParaRPr lang="en-US" sz="1800" dirty="0"/>
          </a:p>
        </p:txBody>
      </p:sp>
      <p:pic>
        <p:nvPicPr>
          <p:cNvPr id="4" name="Image 0" descr="AI appliance">    </p:cNvPr>
          <p:cNvPicPr>
            <a:picLocks noChangeAspect="1"/>
          </p:cNvPicPr>
          <p:nvPr/>
        </p:nvPicPr>
        <p:blipFill>
          <a:blip r:embed="rId1"/>
          <a:stretch>
            <a:fillRect/>
          </a:stretch>
        </p:blipFill>
        <p:spPr>
          <a:xfrm>
            <a:off x="1280160" y="2011680"/>
            <a:ext cx="1801368" cy="1600200"/>
          </a:xfrm>
          <a:prstGeom prst="rect">
            <a:avLst/>
          </a:prstGeom>
        </p:spPr>
      </p:pic>
      <p:sp>
        <p:nvSpPr>
          <p:cNvPr id="5" name="Text 2"/>
          <p:cNvSpPr txBox="1"/>
          <p:nvPr/>
        </p:nvSpPr>
        <p:spPr>
          <a:xfrm>
            <a:off x="3429000" y="2148840"/>
            <a:ext cx="1417320" cy="822960"/>
          </a:xfrm>
          <a:prstGeom prst="rect">
            <a:avLst/>
          </a:prstGeom>
          <a:noFill/>
          <a:ln/>
        </p:spPr>
        <p:txBody>
          <a:bodyPr wrap="square" lIns="0" tIns="0" rIns="0" bIns="0" rtlCol="0" anchor="ctr"/>
          <a:lstStyle/>
          <a:p>
            <a:pPr algn="ctr" indent="0" marL="0">
              <a:buNone/>
            </a:pPr>
            <a:r>
              <a:rPr lang="en-US" sz="1400" dirty="0">
                <a:solidFill>
                  <a:schemeClr val="tx1"/>
                </a:solidFill>
                <a:latin typeface="+mj-lt" pitchFamily="34" charset="0"/>
                <a:ea typeface="+mj-lt" pitchFamily="34" charset="-122"/>
                <a:cs typeface="+mj-lt" pitchFamily="34" charset="-120"/>
              </a:rPr>
              <a:t>Define scope, ingest code</a:t>
            </a:r>
            <a:endParaRPr lang="en-US" sz="1400" dirty="0"/>
          </a:p>
        </p:txBody>
      </p:sp>
      <p:sp>
        <p:nvSpPr>
          <p:cNvPr id="6" name="Shape 3"/>
          <p:cNvSpPr/>
          <p:nvPr/>
        </p:nvSpPr>
        <p:spPr>
          <a:xfrm>
            <a:off x="3474720" y="3108960"/>
            <a:ext cx="1371600" cy="0"/>
          </a:xfrm>
          <a:prstGeom prst="line">
            <a:avLst/>
          </a:prstGeom>
          <a:noFill/>
          <a:ln w="38100">
            <a:solidFill>
              <a:schemeClr val="accent1"/>
            </a:solidFill>
            <a:prstDash val="solid"/>
            <a:tailEnd type="triangle"/>
          </a:ln>
        </p:spPr>
      </p:sp>
      <p:pic>
        <p:nvPicPr>
          <p:cNvPr id="7" name="Image 1" descr="Source code listing">    </p:cNvPr>
          <p:cNvPicPr>
            <a:picLocks noChangeAspect="1"/>
          </p:cNvPicPr>
          <p:nvPr/>
        </p:nvPicPr>
        <p:blipFill>
          <a:blip r:embed="rId2"/>
          <a:stretch>
            <a:fillRect/>
          </a:stretch>
        </p:blipFill>
        <p:spPr>
          <a:xfrm>
            <a:off x="4910328" y="2286000"/>
            <a:ext cx="2377440" cy="950976"/>
          </a:xfrm>
          <a:prstGeom prst="rect">
            <a:avLst/>
          </a:prstGeom>
        </p:spPr>
      </p:pic>
      <p:sp>
        <p:nvSpPr>
          <p:cNvPr id="8" name="Text 4"/>
          <p:cNvSpPr txBox="1"/>
          <p:nvPr/>
        </p:nvSpPr>
        <p:spPr>
          <a:xfrm>
            <a:off x="7315200" y="2103120"/>
            <a:ext cx="1463040" cy="868680"/>
          </a:xfrm>
          <a:prstGeom prst="rect">
            <a:avLst/>
          </a:prstGeom>
          <a:noFill/>
          <a:ln/>
        </p:spPr>
        <p:txBody>
          <a:bodyPr wrap="square" lIns="0" tIns="0" rIns="0" bIns="0" rtlCol="0" anchor="ctr"/>
          <a:lstStyle/>
          <a:p>
            <a:pPr algn="ctr" indent="0" marL="0">
              <a:buNone/>
            </a:pPr>
            <a:r>
              <a:rPr lang="en-US" sz="1400" dirty="0">
                <a:solidFill>
                  <a:schemeClr val="tx1"/>
                </a:solidFill>
                <a:latin typeface="+mj-lt" pitchFamily="34" charset="0"/>
                <a:ea typeface="+mj-lt" pitchFamily="34" charset="-122"/>
                <a:cs typeface="+mj-lt" pitchFamily="34" charset="-120"/>
              </a:rPr>
              <a:t>Scan for vulnerabilities using AI agents</a:t>
            </a:r>
            <a:endParaRPr lang="en-US" sz="1400" dirty="0"/>
          </a:p>
        </p:txBody>
      </p:sp>
      <p:sp>
        <p:nvSpPr>
          <p:cNvPr id="9" name="Shape 5"/>
          <p:cNvSpPr/>
          <p:nvPr/>
        </p:nvSpPr>
        <p:spPr>
          <a:xfrm>
            <a:off x="7315200" y="3108960"/>
            <a:ext cx="1417320" cy="0"/>
          </a:xfrm>
          <a:prstGeom prst="line">
            <a:avLst/>
          </a:prstGeom>
          <a:noFill/>
          <a:ln w="38100">
            <a:solidFill>
              <a:schemeClr val="accent1"/>
            </a:solidFill>
            <a:prstDash val="solid"/>
            <a:tailEnd type="triangle"/>
          </a:ln>
        </p:spPr>
      </p:sp>
      <p:pic>
        <p:nvPicPr>
          <p:cNvPr id="10" name="Image 2" descr="Vulnerability severity: critical, high, medium, low">    </p:cNvPr>
          <p:cNvPicPr>
            <a:picLocks noChangeAspect="1"/>
          </p:cNvPicPr>
          <p:nvPr/>
        </p:nvPicPr>
        <p:blipFill>
          <a:blip r:embed="rId3"/>
          <a:stretch>
            <a:fillRect/>
          </a:stretch>
        </p:blipFill>
        <p:spPr>
          <a:xfrm>
            <a:off x="8805672" y="2011680"/>
            <a:ext cx="2377440" cy="1581912"/>
          </a:xfrm>
          <a:prstGeom prst="rect">
            <a:avLst/>
          </a:prstGeom>
        </p:spPr>
      </p:pic>
      <p:sp>
        <p:nvSpPr>
          <p:cNvPr id="11" name="Shape 6"/>
          <p:cNvSpPr/>
          <p:nvPr/>
        </p:nvSpPr>
        <p:spPr>
          <a:xfrm>
            <a:off x="9994392" y="3703320"/>
            <a:ext cx="0" cy="502920"/>
          </a:xfrm>
          <a:prstGeom prst="line">
            <a:avLst/>
          </a:prstGeom>
          <a:noFill/>
          <a:ln w="38100">
            <a:solidFill>
              <a:schemeClr val="accent1"/>
            </a:solidFill>
            <a:prstDash val="solid"/>
            <a:tailEnd type="triangle"/>
          </a:ln>
        </p:spPr>
      </p:sp>
      <p:pic>
        <p:nvPicPr>
          <p:cNvPr id="12" name="Image 3" descr="Belfius mobile app">    </p:cNvPr>
          <p:cNvPicPr>
            <a:picLocks noChangeAspect="1"/>
          </p:cNvPicPr>
          <p:nvPr/>
        </p:nvPicPr>
        <p:blipFill>
          <a:blip r:embed="rId4"/>
          <a:stretch>
            <a:fillRect/>
          </a:stretch>
        </p:blipFill>
        <p:spPr>
          <a:xfrm>
            <a:off x="8641080" y="4343400"/>
            <a:ext cx="1554480" cy="1463040"/>
          </a:xfrm>
          <a:prstGeom prst="rect">
            <a:avLst/>
          </a:prstGeom>
        </p:spPr>
      </p:pic>
      <p:pic>
        <p:nvPicPr>
          <p:cNvPr id="13" name="Image 4" descr="Belfius web application">    </p:cNvPr>
          <p:cNvPicPr>
            <a:picLocks noChangeAspect="1"/>
          </p:cNvPicPr>
          <p:nvPr/>
        </p:nvPicPr>
        <p:blipFill>
          <a:blip r:embed="rId5"/>
          <a:stretch>
            <a:fillRect/>
          </a:stretch>
        </p:blipFill>
        <p:spPr>
          <a:xfrm>
            <a:off x="10332720" y="4709160"/>
            <a:ext cx="1280160" cy="749808"/>
          </a:xfrm>
          <a:prstGeom prst="rect">
            <a:avLst/>
          </a:prstGeom>
        </p:spPr>
      </p:pic>
      <p:sp>
        <p:nvSpPr>
          <p:cNvPr id="14" name="Shape 7"/>
          <p:cNvSpPr/>
          <p:nvPr/>
        </p:nvSpPr>
        <p:spPr>
          <a:xfrm flipH="1">
            <a:off x="6903720" y="5074920"/>
            <a:ext cx="1645920" cy="0"/>
          </a:xfrm>
          <a:prstGeom prst="line">
            <a:avLst/>
          </a:prstGeom>
          <a:noFill/>
          <a:ln w="38100">
            <a:solidFill>
              <a:schemeClr val="accent1"/>
            </a:solidFill>
            <a:prstDash val="solid"/>
            <a:tailEnd type="triangle"/>
          </a:ln>
        </p:spPr>
      </p:sp>
      <p:sp>
        <p:nvSpPr>
          <p:cNvPr id="15" name="Text 8"/>
          <p:cNvSpPr txBox="1"/>
          <p:nvPr/>
        </p:nvSpPr>
        <p:spPr>
          <a:xfrm>
            <a:off x="6903720" y="443484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latin typeface="+mj-lt" pitchFamily="34" charset="0"/>
                <a:ea typeface="+mj-lt" pitchFamily="34" charset="-122"/>
                <a:cs typeface="+mj-lt" pitchFamily="34" charset="-120"/>
              </a:rPr>
              <a:t>Report true positives</a:t>
            </a:r>
            <a:endParaRPr lang="en-US" sz="1400" dirty="0"/>
          </a:p>
        </p:txBody>
      </p:sp>
      <p:pic>
        <p:nvPicPr>
          <p:cNvPr id="16" name="Image 5" descr="Assessment report with severity levels">    </p:cNvPr>
          <p:cNvPicPr>
            <a:picLocks noChangeAspect="1"/>
          </p:cNvPicPr>
          <p:nvPr/>
        </p:nvPicPr>
        <p:blipFill>
          <a:blip r:embed="rId6"/>
          <a:stretch>
            <a:fillRect/>
          </a:stretch>
        </p:blipFill>
        <p:spPr>
          <a:xfrm>
            <a:off x="5559552" y="4343400"/>
            <a:ext cx="1069848" cy="1600200"/>
          </a:xfrm>
          <a:prstGeom prst="rect">
            <a:avLst/>
          </a:prstGeom>
        </p:spPr>
      </p:pic>
      <p:sp>
        <p:nvSpPr>
          <p:cNvPr id="17" name="Shape 9"/>
          <p:cNvSpPr/>
          <p:nvPr/>
        </p:nvSpPr>
        <p:spPr>
          <a:xfrm flipH="1">
            <a:off x="3657600" y="5074920"/>
            <a:ext cx="1737360" cy="0"/>
          </a:xfrm>
          <a:prstGeom prst="line">
            <a:avLst/>
          </a:prstGeom>
          <a:noFill/>
          <a:ln w="38100">
            <a:solidFill>
              <a:schemeClr val="accent1"/>
            </a:solidFill>
            <a:prstDash val="solid"/>
            <a:tailEnd type="triangle"/>
          </a:ln>
        </p:spPr>
      </p:sp>
      <p:sp>
        <p:nvSpPr>
          <p:cNvPr id="18" name="Text 10"/>
          <p:cNvSpPr txBox="1"/>
          <p:nvPr/>
        </p:nvSpPr>
        <p:spPr>
          <a:xfrm>
            <a:off x="3657600" y="443484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latin typeface="+mj-lt" pitchFamily="34" charset="0"/>
                <a:ea typeface="+mj-lt" pitchFamily="34" charset="-122"/>
                <a:cs typeface="+mj-lt" pitchFamily="34" charset="-120"/>
              </a:rPr>
              <a:t>Report towards devs</a:t>
            </a:r>
            <a:endParaRPr lang="en-US" sz="1400" dirty="0"/>
          </a:p>
        </p:txBody>
      </p:sp>
      <p:pic>
        <p:nvPicPr>
          <p:cNvPr id="19" name="Image 6" descr="A developer at a laptop">    </p:cNvPr>
          <p:cNvPicPr>
            <a:picLocks noChangeAspect="1"/>
          </p:cNvPicPr>
          <p:nvPr/>
        </p:nvPicPr>
        <p:blipFill>
          <a:blip r:embed="rId7"/>
          <a:stretch>
            <a:fillRect/>
          </a:stretch>
        </p:blipFill>
        <p:spPr>
          <a:xfrm>
            <a:off x="1097280" y="4389120"/>
            <a:ext cx="2194560" cy="1463040"/>
          </a:xfrm>
          <a:prstGeom prst="rect">
            <a:avLst/>
          </a:prstGeom>
        </p:spPr>
      </p:pic>
      <p:sp>
        <p:nvSpPr>
          <p:cNvPr id="20" name="Shape 11"/>
          <p:cNvSpPr/>
          <p:nvPr/>
        </p:nvSpPr>
        <p:spPr>
          <a:xfrm flipV="1">
            <a:off x="2194560" y="3749040"/>
            <a:ext cx="0" cy="502920"/>
          </a:xfrm>
          <a:prstGeom prst="line">
            <a:avLst/>
          </a:prstGeom>
          <a:noFill/>
          <a:ln w="38100">
            <a:solidFill>
              <a:schemeClr val="accent1"/>
            </a:solidFill>
            <a:prstDash val="solid"/>
            <a:tailEnd type="triangle"/>
          </a:ln>
        </p:spPr>
      </p:sp>
      <p:sp>
        <p:nvSpPr>
          <p:cNvPr id="21" name="Text 12"/>
          <p:cNvSpPr txBox="1"/>
          <p:nvPr/>
        </p:nvSpPr>
        <p:spPr>
          <a:xfrm>
            <a:off x="2331720" y="3794760"/>
            <a:ext cx="1280160" cy="411480"/>
          </a:xfrm>
          <a:prstGeom prst="rect">
            <a:avLst/>
          </a:prstGeom>
          <a:noFill/>
          <a:ln/>
        </p:spPr>
        <p:txBody>
          <a:bodyPr wrap="square" lIns="0" tIns="0" rIns="0" bIns="0" rtlCol="0" anchor="ctr"/>
          <a:lstStyle/>
          <a:p>
            <a:pPr algn="l" indent="0" marL="0">
              <a:buNone/>
            </a:pPr>
            <a:r>
              <a:rPr lang="en-US" sz="1400" dirty="0">
                <a:solidFill>
                  <a:schemeClr val="tx1"/>
                </a:solidFill>
                <a:latin typeface="+mj-lt" pitchFamily="34" charset="0"/>
                <a:ea typeface="+mj-lt" pitchFamily="34" charset="-122"/>
                <a:cs typeface="+mj-lt" pitchFamily="34" charset="-120"/>
              </a:rPr>
              <a:t>Remediate</a:t>
            </a:r>
            <a:endParaRPr lang="en-US" sz="1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607040" cy="3291840"/>
          </a:xfrm>
          <a:prstGeom prst="rect">
            <a:avLst/>
          </a:prstGeom>
          <a:noFill/>
          <a:ln/>
        </p:spPr>
        <p:txBody>
          <a:bodyPr wrap="square" lIns="0" tIns="0" rIns="0" bIns="0" rtlCol="0" anchor="b"/>
          <a:lstStyle/>
          <a:p>
            <a:pPr algn="l" indent="0" marL="0">
              <a:buNone/>
            </a:pPr>
            <a:r>
              <a:rPr lang="en-US" sz="5200" dirty="0">
                <a:solidFill>
                  <a:schemeClr val="bg1"/>
                </a:solidFill>
              </a:rPr>
              <a:t>AI-assisted development</a:t>
            </a:r>
            <a:endParaRPr lang="en-US" sz="5200" dirty="0"/>
          </a:p>
        </p:txBody>
      </p:sp>
      <p:sp>
        <p:nvSpPr>
          <p:cNvPr id="3" name="Text 0"/>
          <p:cNvSpPr/>
          <p:nvPr>
            <p:ph idx="101" type="body" hasCustomPrompt="1"/>
          </p:nvPr>
        </p:nvSpPr>
        <p:spPr>
          <a:xfrm>
            <a:off x="822960" y="4663440"/>
            <a:ext cx="10607040" cy="822960"/>
          </a:xfrm>
          <a:prstGeom prst="rect">
            <a:avLst/>
          </a:prstGeom>
          <a:noFill/>
          <a:ln/>
        </p:spPr>
        <p:txBody>
          <a:bodyPr wrap="square" lIns="0" tIns="0" rIns="0" bIns="0" rtlCol="0" anchor="t"/>
          <a:lstStyle/>
          <a:p>
            <a:pPr algn="l" indent="0" marL="0">
              <a:buNone/>
            </a:pPr>
            <a:r>
              <a:rPr lang="en-US" sz="2600" dirty="0">
                <a:solidFill>
                  <a:schemeClr val="bg1"/>
                </a:solidFill>
              </a:rPr>
              <a:t>3 rules for responsible use</a:t>
            </a:r>
            <a:endParaRPr lang="en-US" sz="2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Source code is valuable</a:t>
            </a:r>
            <a:endParaRPr lang="en-US" sz="3600" dirty="0"/>
          </a:p>
        </p:txBody>
      </p:sp>
      <p:sp>
        <p:nvSpPr>
          <p:cNvPr id="3" name="Shape 1"/>
          <p:cNvSpPr/>
          <p:nvPr/>
        </p:nvSpPr>
        <p:spPr>
          <a:xfrm>
            <a:off x="822960" y="1554480"/>
            <a:ext cx="5166360" cy="2743200"/>
          </a:xfrm>
          <a:prstGeom prst="roundRect">
            <a:avLst>
              <a:gd name="adj" fmla="val 4667"/>
            </a:avLst>
          </a:prstGeom>
          <a:solidFill>
            <a:schemeClr val="bg2"/>
          </a:solidFill>
          <a:ln/>
        </p:spPr>
      </p:sp>
      <p:sp>
        <p:nvSpPr>
          <p:cNvPr id="4" name="Text 2"/>
          <p:cNvSpPr txBox="1"/>
          <p:nvPr/>
        </p:nvSpPr>
        <p:spPr>
          <a:xfrm>
            <a:off x="1097280" y="1691640"/>
            <a:ext cx="4663440" cy="777240"/>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LLMs have been trained on open-source code for years</a:t>
            </a:r>
            <a:endParaRPr lang="en-US" sz="2000" dirty="0"/>
          </a:p>
        </p:txBody>
      </p:sp>
      <p:sp>
        <p:nvSpPr>
          <p:cNvPr id="5" name="Text 3"/>
          <p:cNvSpPr txBox="1"/>
          <p:nvPr/>
        </p:nvSpPr>
        <p:spPr>
          <a:xfrm>
            <a:off x="1097280" y="2606040"/>
            <a:ext cx="4663440" cy="1554480"/>
          </a:xfrm>
          <a:prstGeom prst="rect">
            <a:avLst/>
          </a:prstGeom>
          <a:noFill/>
          <a:ln/>
        </p:spPr>
        <p:txBody>
          <a:bodyPr wrap="square" lIns="0" tIns="0" rIns="0" bIns="0" rtlCol="0" anchor="t"/>
          <a:lstStyle/>
          <a:p>
            <a:pPr algn="l" marL="254000" indent="-254000">
              <a:spcAft>
                <a:spcPts val="600"/>
              </a:spcAft>
              <a:buSzPct val="100000"/>
              <a:buChar char="•"/>
            </a:pPr>
            <a:r>
              <a:rPr lang="en-US" sz="1800" dirty="0">
                <a:solidFill>
                  <a:schemeClr val="tx1"/>
                </a:solidFill>
              </a:rPr>
              <a:t>Excellent understanding</a:t>
            </a:r>
            <a:endParaRPr lang="en-US" sz="1800" dirty="0"/>
          </a:p>
          <a:p>
            <a:pPr algn="l" marL="254000" indent="-254000">
              <a:spcAft>
                <a:spcPts val="600"/>
              </a:spcAft>
              <a:buSzPct val="100000"/>
              <a:buChar char="•"/>
            </a:pPr>
            <a:r>
              <a:rPr lang="en-US" sz="1800" dirty="0">
                <a:solidFill>
                  <a:schemeClr val="tx1"/>
                </a:solidFill>
              </a:rPr>
              <a:t>Standard frameworks</a:t>
            </a:r>
            <a:endParaRPr lang="en-US" sz="1800" dirty="0"/>
          </a:p>
          <a:p>
            <a:pPr algn="l" marL="254000" indent="-254000">
              <a:spcAft>
                <a:spcPts val="600"/>
              </a:spcAft>
              <a:buSzPct val="100000"/>
              <a:buChar char="•"/>
            </a:pPr>
            <a:r>
              <a:rPr lang="en-US" sz="1800" dirty="0">
                <a:solidFill>
                  <a:schemeClr val="tx1"/>
                </a:solidFill>
              </a:rPr>
              <a:t>Easy to scan</a:t>
            </a:r>
            <a:endParaRPr lang="en-US" sz="1800" dirty="0"/>
          </a:p>
        </p:txBody>
      </p:sp>
      <p:sp>
        <p:nvSpPr>
          <p:cNvPr id="6" name="Shape 4"/>
          <p:cNvSpPr/>
          <p:nvPr/>
        </p:nvSpPr>
        <p:spPr>
          <a:xfrm>
            <a:off x="6199632" y="1554480"/>
            <a:ext cx="5166360" cy="2743200"/>
          </a:xfrm>
          <a:prstGeom prst="roundRect">
            <a:avLst>
              <a:gd name="adj" fmla="val 4667"/>
            </a:avLst>
          </a:prstGeom>
          <a:solidFill>
            <a:schemeClr val="accent4"/>
          </a:solidFill>
          <a:ln/>
        </p:spPr>
      </p:sp>
      <p:sp>
        <p:nvSpPr>
          <p:cNvPr id="7" name="Text 5"/>
          <p:cNvSpPr txBox="1"/>
          <p:nvPr/>
        </p:nvSpPr>
        <p:spPr>
          <a:xfrm>
            <a:off x="6473952" y="1691640"/>
            <a:ext cx="4663440" cy="777240"/>
          </a:xfrm>
          <a:prstGeom prst="rect">
            <a:avLst/>
          </a:prstGeom>
          <a:noFill/>
          <a:ln/>
        </p:spPr>
        <p:txBody>
          <a:bodyPr wrap="square" lIns="0" tIns="0" rIns="0" bIns="0" rtlCol="0" anchor="ctr"/>
          <a:lstStyle/>
          <a:p>
            <a:pPr algn="l" indent="0" marL="0">
              <a:buNone/>
            </a:pPr>
            <a:r>
              <a:rPr lang="en-US" sz="2000" dirty="0">
                <a:solidFill>
                  <a:schemeClr val="accent1"/>
                </a:solidFill>
                <a:latin typeface="+mj-lt" pitchFamily="34" charset="0"/>
                <a:ea typeface="+mj-lt" pitchFamily="34" charset="-122"/>
                <a:cs typeface="+mj-lt" pitchFamily="34" charset="-120"/>
              </a:rPr>
              <a:t>(Legacy) proprietary code is way harder</a:t>
            </a:r>
            <a:endParaRPr lang="en-US" sz="2000" dirty="0"/>
          </a:p>
        </p:txBody>
      </p:sp>
      <p:sp>
        <p:nvSpPr>
          <p:cNvPr id="8" name="Text 6"/>
          <p:cNvSpPr txBox="1"/>
          <p:nvPr/>
        </p:nvSpPr>
        <p:spPr>
          <a:xfrm>
            <a:off x="6473952" y="2606040"/>
            <a:ext cx="4663440" cy="1554480"/>
          </a:xfrm>
          <a:prstGeom prst="rect">
            <a:avLst/>
          </a:prstGeom>
          <a:noFill/>
          <a:ln/>
        </p:spPr>
        <p:txBody>
          <a:bodyPr wrap="square" lIns="0" tIns="0" rIns="0" bIns="0" rtlCol="0" anchor="t"/>
          <a:lstStyle/>
          <a:p>
            <a:pPr algn="l" marL="254000" indent="-254000">
              <a:spcAft>
                <a:spcPts val="600"/>
              </a:spcAft>
              <a:buSzPct val="100000"/>
              <a:buChar char="•"/>
            </a:pPr>
            <a:r>
              <a:rPr lang="en-US" sz="1800" dirty="0">
                <a:solidFill>
                  <a:schemeClr val="tx1"/>
                </a:solidFill>
              </a:rPr>
              <a:t>Unstructured</a:t>
            </a:r>
            <a:endParaRPr lang="en-US" sz="1800" dirty="0"/>
          </a:p>
          <a:p>
            <a:pPr algn="l" marL="254000" indent="-254000">
              <a:spcAft>
                <a:spcPts val="600"/>
              </a:spcAft>
              <a:buSzPct val="100000"/>
              <a:buChar char="•"/>
            </a:pPr>
            <a:r>
              <a:rPr lang="en-US" sz="1800" dirty="0">
                <a:solidFill>
                  <a:schemeClr val="tx1"/>
                </a:solidFill>
              </a:rPr>
              <a:t>Outdated frameworks and libraries</a:t>
            </a:r>
            <a:endParaRPr lang="en-US" sz="1800" dirty="0"/>
          </a:p>
          <a:p>
            <a:pPr algn="l" marL="254000" indent="-254000">
              <a:spcAft>
                <a:spcPts val="600"/>
              </a:spcAft>
              <a:buSzPct val="100000"/>
              <a:buChar char="•"/>
            </a:pPr>
            <a:r>
              <a:rPr lang="en-US" sz="1800" dirty="0">
                <a:solidFill>
                  <a:schemeClr val="tx1"/>
                </a:solidFill>
              </a:rPr>
              <a:t>Never seen before by an LLM</a:t>
            </a:r>
            <a:endParaRPr lang="en-US" sz="1800" dirty="0"/>
          </a:p>
        </p:txBody>
      </p:sp>
      <p:sp>
        <p:nvSpPr>
          <p:cNvPr id="9" name="Text 7"/>
          <p:cNvSpPr/>
          <p:nvPr/>
        </p:nvSpPr>
        <p:spPr>
          <a:xfrm>
            <a:off x="822960" y="4526280"/>
            <a:ext cx="457200" cy="45720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000" dirty="0">
                <a:solidFill>
                  <a:schemeClr val="bg1"/>
                </a:solidFill>
                <a:latin typeface="+mj-lt" pitchFamily="34" charset="0"/>
                <a:ea typeface="+mj-lt" pitchFamily="34" charset="-122"/>
                <a:cs typeface="+mj-lt" pitchFamily="34" charset="-120"/>
              </a:rPr>
              <a:t>!</a:t>
            </a:r>
            <a:endParaRPr lang="en-US" sz="2000" dirty="0"/>
          </a:p>
        </p:txBody>
      </p:sp>
      <p:sp>
        <p:nvSpPr>
          <p:cNvPr id="10" name="Text 8"/>
          <p:cNvSpPr txBox="1"/>
          <p:nvPr/>
        </p:nvSpPr>
        <p:spPr>
          <a:xfrm>
            <a:off x="1463040" y="4480560"/>
            <a:ext cx="9601200" cy="548640"/>
          </a:xfrm>
          <a:prstGeom prst="rect">
            <a:avLst/>
          </a:prstGeom>
          <a:noFill/>
          <a:ln/>
        </p:spPr>
        <p:txBody>
          <a:bodyPr wrap="square" lIns="0" tIns="0" rIns="0" bIns="0" rtlCol="0" anchor="ctr"/>
          <a:lstStyle/>
          <a:p>
            <a:pPr algn="l" indent="0" marL="0">
              <a:buNone/>
            </a:pPr>
            <a:r>
              <a:rPr lang="en-US" sz="2200" dirty="0">
                <a:solidFill>
                  <a:schemeClr val="tx1"/>
                </a:solidFill>
                <a:latin typeface="+mj-lt" pitchFamily="34" charset="0"/>
                <a:ea typeface="+mj-lt" pitchFamily="34" charset="-122"/>
                <a:cs typeface="+mj-lt" pitchFamily="34" charset="-120"/>
              </a:rPr>
              <a:t>Be careful with web search!</a:t>
            </a:r>
            <a:endParaRPr lang="en-US" sz="2200" dirty="0"/>
          </a:p>
        </p:txBody>
      </p:sp>
      <p:sp>
        <p:nvSpPr>
          <p:cNvPr id="11" name="Shape 9"/>
          <p:cNvSpPr/>
          <p:nvPr/>
        </p:nvSpPr>
        <p:spPr>
          <a:xfrm>
            <a:off x="822960" y="5257800"/>
            <a:ext cx="10607040" cy="1051560"/>
          </a:xfrm>
          <a:prstGeom prst="roundRect">
            <a:avLst>
              <a:gd name="adj" fmla="val 12174"/>
            </a:avLst>
          </a:prstGeom>
          <a:solidFill>
            <a:schemeClr val="accent1"/>
          </a:solidFill>
          <a:ln/>
        </p:spPr>
      </p:sp>
      <p:sp>
        <p:nvSpPr>
          <p:cNvPr id="12" name="Text 10"/>
          <p:cNvSpPr txBox="1"/>
          <p:nvPr/>
        </p:nvSpPr>
        <p:spPr>
          <a:xfrm>
            <a:off x="1143000" y="5257800"/>
            <a:ext cx="9966960" cy="1051560"/>
          </a:xfrm>
          <a:prstGeom prst="rect">
            <a:avLst/>
          </a:prstGeom>
          <a:noFill/>
          <a:ln/>
        </p:spPr>
        <p:txBody>
          <a:bodyPr wrap="square" lIns="0" tIns="0" rIns="0" bIns="0" rtlCol="0" anchor="ctr"/>
          <a:lstStyle/>
          <a:p>
            <a:pPr algn="l" indent="0" marL="0">
              <a:buNone/>
            </a:pPr>
            <a:r>
              <a:rPr lang="en-US" sz="2400" dirty="0">
                <a:solidFill>
                  <a:schemeClr val="accent2"/>
                </a:solidFill>
                <a:latin typeface="+mj-lt" pitchFamily="34" charset="0"/>
                <a:ea typeface="+mj-lt" pitchFamily="34" charset="-122"/>
                <a:cs typeface="+mj-lt" pitchFamily="34" charset="-120"/>
              </a:rPr>
              <a:t>Rule #1  </a:t>
            </a:r>
            <a:pPr algn="l" indent="0" marL="0">
              <a:buNone/>
            </a:pPr>
            <a:r>
              <a:rPr lang="en-US" sz="2400" dirty="0">
                <a:solidFill>
                  <a:schemeClr val="bg1"/>
                </a:solidFill>
                <a:latin typeface="+mj-lt" pitchFamily="34" charset="0"/>
                <a:ea typeface="+mj-lt" pitchFamily="34" charset="-122"/>
                <a:cs typeface="+mj-lt" pitchFamily="34" charset="-120"/>
              </a:rPr>
              <a:t>Keep your source code out of the training data of LLMs at all costs</a:t>
            </a:r>
            <a:endParaRPr lang="en-US" sz="2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Don’t trust the output</a:t>
            </a:r>
            <a:endParaRPr lang="en-US" sz="3600" dirty="0"/>
          </a:p>
        </p:txBody>
      </p:sp>
      <p:sp>
        <p:nvSpPr>
          <p:cNvPr id="3" name="Shape 1"/>
          <p:cNvSpPr/>
          <p:nvPr/>
        </p:nvSpPr>
        <p:spPr>
          <a:xfrm>
            <a:off x="822960" y="1554480"/>
            <a:ext cx="3383280" cy="2697480"/>
          </a:xfrm>
          <a:prstGeom prst="roundRect">
            <a:avLst>
              <a:gd name="adj" fmla="val 4746"/>
            </a:avLst>
          </a:prstGeom>
          <a:solidFill>
            <a:schemeClr val="bg2"/>
          </a:solidFill>
          <a:ln/>
        </p:spPr>
      </p:sp>
      <p:sp>
        <p:nvSpPr>
          <p:cNvPr id="4" name="Text 2"/>
          <p:cNvSpPr txBox="1"/>
          <p:nvPr/>
        </p:nvSpPr>
        <p:spPr>
          <a:xfrm>
            <a:off x="1097280" y="1737360"/>
            <a:ext cx="2834640" cy="457200"/>
          </a:xfrm>
          <a:prstGeom prst="rect">
            <a:avLst/>
          </a:prstGeom>
          <a:noFill/>
          <a:ln/>
        </p:spPr>
        <p:txBody>
          <a:bodyPr wrap="square" lIns="0" tIns="0" rIns="0" bIns="0" rtlCol="0" anchor="t"/>
          <a:lstStyle/>
          <a:p>
            <a:pPr algn="l" indent="0" marL="0">
              <a:buNone/>
            </a:pPr>
            <a:r>
              <a:rPr lang="en-US" sz="2400" dirty="0">
                <a:solidFill>
                  <a:schemeClr val="tx1"/>
                </a:solidFill>
                <a:latin typeface="+mj-lt" pitchFamily="34" charset="0"/>
                <a:ea typeface="+mj-lt" pitchFamily="34" charset="-122"/>
                <a:cs typeface="+mj-lt" pitchFamily="34" charset="-120"/>
              </a:rPr>
              <a:t>Easy to detect</a:t>
            </a:r>
            <a:endParaRPr lang="en-US" sz="2400" dirty="0"/>
          </a:p>
        </p:txBody>
      </p:sp>
      <p:sp>
        <p:nvSpPr>
          <p:cNvPr id="5" name="Text 3"/>
          <p:cNvSpPr txBox="1"/>
          <p:nvPr/>
        </p:nvSpPr>
        <p:spPr>
          <a:xfrm>
            <a:off x="1097280" y="2377440"/>
            <a:ext cx="2834640" cy="1783080"/>
          </a:xfrm>
          <a:prstGeom prst="rect">
            <a:avLst/>
          </a:prstGeom>
          <a:noFill/>
          <a:ln/>
        </p:spPr>
        <p:txBody>
          <a:bodyPr wrap="square" lIns="0" tIns="0" rIns="0" bIns="0" rtlCol="0" anchor="t"/>
          <a:lstStyle/>
          <a:p>
            <a:pPr algn="l" indent="0" marL="0">
              <a:buNone/>
            </a:pPr>
            <a:r>
              <a:rPr lang="en-US" sz="1800" dirty="0">
                <a:solidFill>
                  <a:schemeClr val="tx1"/>
                </a:solidFill>
              </a:rPr>
              <a:t>Insecure patterns (XSS, injection, …) are caught by traditional code scanners.</a:t>
            </a:r>
            <a:endParaRPr lang="en-US" sz="1800" dirty="0"/>
          </a:p>
        </p:txBody>
      </p:sp>
      <p:sp>
        <p:nvSpPr>
          <p:cNvPr id="6" name="Shape 4"/>
          <p:cNvSpPr/>
          <p:nvPr/>
        </p:nvSpPr>
        <p:spPr>
          <a:xfrm>
            <a:off x="4434840" y="1554480"/>
            <a:ext cx="3383280" cy="2697480"/>
          </a:xfrm>
          <a:prstGeom prst="roundRect">
            <a:avLst>
              <a:gd name="adj" fmla="val 4746"/>
            </a:avLst>
          </a:prstGeom>
          <a:solidFill>
            <a:schemeClr val="accent4"/>
          </a:solidFill>
          <a:ln/>
        </p:spPr>
      </p:sp>
      <p:sp>
        <p:nvSpPr>
          <p:cNvPr id="7" name="Text 5"/>
          <p:cNvSpPr txBox="1"/>
          <p:nvPr/>
        </p:nvSpPr>
        <p:spPr>
          <a:xfrm>
            <a:off x="4709160" y="1737360"/>
            <a:ext cx="2834640" cy="457200"/>
          </a:xfrm>
          <a:prstGeom prst="rect">
            <a:avLst/>
          </a:prstGeom>
          <a:noFill/>
          <a:ln/>
        </p:spPr>
        <p:txBody>
          <a:bodyPr wrap="square" lIns="0" tIns="0" rIns="0" bIns="0" rtlCol="0" anchor="t"/>
          <a:lstStyle/>
          <a:p>
            <a:pPr algn="l" indent="0" marL="0">
              <a:buNone/>
            </a:pPr>
            <a:r>
              <a:rPr lang="en-US" sz="2400" dirty="0">
                <a:solidFill>
                  <a:schemeClr val="accent1"/>
                </a:solidFill>
                <a:latin typeface="+mj-lt" pitchFamily="34" charset="0"/>
                <a:ea typeface="+mj-lt" pitchFamily="34" charset="-122"/>
                <a:cs typeface="+mj-lt" pitchFamily="34" charset="-120"/>
              </a:rPr>
              <a:t>Easy to miss</a:t>
            </a:r>
            <a:endParaRPr lang="en-US" sz="2400" dirty="0"/>
          </a:p>
        </p:txBody>
      </p:sp>
      <p:sp>
        <p:nvSpPr>
          <p:cNvPr id="8" name="Text 6"/>
          <p:cNvSpPr txBox="1"/>
          <p:nvPr/>
        </p:nvSpPr>
        <p:spPr>
          <a:xfrm>
            <a:off x="4709160" y="2377440"/>
            <a:ext cx="2834640" cy="1783080"/>
          </a:xfrm>
          <a:prstGeom prst="rect">
            <a:avLst/>
          </a:prstGeom>
          <a:noFill/>
          <a:ln/>
        </p:spPr>
        <p:txBody>
          <a:bodyPr wrap="square" lIns="0" tIns="0" rIns="0" bIns="0" rtlCol="0" anchor="t"/>
          <a:lstStyle/>
          <a:p>
            <a:pPr algn="l" indent="0" marL="0">
              <a:buNone/>
            </a:pPr>
            <a:r>
              <a:rPr lang="en-US" sz="1800" dirty="0">
                <a:solidFill>
                  <a:schemeClr val="tx1"/>
                </a:solidFill>
              </a:rPr>
              <a:t>Logical vulnerabilities slip through the cracks: scanners aren’t good at detecting them.</a:t>
            </a:r>
            <a:endParaRPr lang="en-US" sz="1800" dirty="0"/>
          </a:p>
        </p:txBody>
      </p:sp>
      <p:sp>
        <p:nvSpPr>
          <p:cNvPr id="9" name="Shape 7"/>
          <p:cNvSpPr/>
          <p:nvPr/>
        </p:nvSpPr>
        <p:spPr>
          <a:xfrm>
            <a:off x="8046720" y="1554480"/>
            <a:ext cx="3383280" cy="2697480"/>
          </a:xfrm>
          <a:prstGeom prst="roundRect">
            <a:avLst>
              <a:gd name="adj" fmla="val 4746"/>
            </a:avLst>
          </a:prstGeom>
          <a:solidFill>
            <a:schemeClr val="bg2"/>
          </a:solidFill>
          <a:ln/>
        </p:spPr>
      </p:sp>
      <p:sp>
        <p:nvSpPr>
          <p:cNvPr id="10" name="Text 8"/>
          <p:cNvSpPr txBox="1"/>
          <p:nvPr/>
        </p:nvSpPr>
        <p:spPr>
          <a:xfrm>
            <a:off x="8321040" y="1737360"/>
            <a:ext cx="2834640" cy="457200"/>
          </a:xfrm>
          <a:prstGeom prst="rect">
            <a:avLst/>
          </a:prstGeom>
          <a:noFill/>
          <a:ln/>
        </p:spPr>
        <p:txBody>
          <a:bodyPr wrap="square" lIns="0" tIns="0" rIns="0" bIns="0" rtlCol="0" anchor="t"/>
          <a:lstStyle/>
          <a:p>
            <a:pPr algn="l" indent="0" marL="0">
              <a:buNone/>
            </a:pPr>
            <a:r>
              <a:rPr lang="en-US" sz="2400" dirty="0">
                <a:solidFill>
                  <a:schemeClr val="tx1"/>
                </a:solidFill>
                <a:latin typeface="+mj-lt" pitchFamily="34" charset="0"/>
                <a:ea typeface="+mj-lt" pitchFamily="34" charset="-122"/>
                <a:cs typeface="+mj-lt" pitchFamily="34" charset="-120"/>
              </a:rPr>
              <a:t>Easy to exploit</a:t>
            </a:r>
            <a:endParaRPr lang="en-US" sz="2400" dirty="0"/>
          </a:p>
        </p:txBody>
      </p:sp>
      <p:sp>
        <p:nvSpPr>
          <p:cNvPr id="11" name="Text 9"/>
          <p:cNvSpPr txBox="1"/>
          <p:nvPr/>
        </p:nvSpPr>
        <p:spPr>
          <a:xfrm>
            <a:off x="8321040" y="2377440"/>
            <a:ext cx="2834640" cy="1783080"/>
          </a:xfrm>
          <a:prstGeom prst="rect">
            <a:avLst/>
          </a:prstGeom>
          <a:noFill/>
          <a:ln/>
        </p:spPr>
        <p:txBody>
          <a:bodyPr wrap="square" lIns="0" tIns="0" rIns="0" bIns="0" rtlCol="0" anchor="t"/>
          <a:lstStyle/>
          <a:p>
            <a:pPr algn="l" indent="0" marL="0">
              <a:buNone/>
            </a:pPr>
            <a:r>
              <a:rPr lang="en-US" sz="1800" dirty="0">
                <a:solidFill>
                  <a:schemeClr val="tx1"/>
                </a:solidFill>
              </a:rPr>
              <a:t>AI-generated code is easier for AI to understand and exploit.</a:t>
            </a:r>
            <a:endParaRPr lang="en-US" sz="1800" dirty="0"/>
          </a:p>
        </p:txBody>
      </p:sp>
      <p:sp>
        <p:nvSpPr>
          <p:cNvPr id="12" name="Text 10"/>
          <p:cNvSpPr/>
          <p:nvPr/>
        </p:nvSpPr>
        <p:spPr>
          <a:xfrm>
            <a:off x="822960" y="4526280"/>
            <a:ext cx="457200" cy="45720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1800" dirty="0">
                <a:solidFill>
                  <a:schemeClr val="bg1"/>
                </a:solidFill>
                <a:latin typeface="+mj-lt" pitchFamily="34" charset="0"/>
                <a:ea typeface="+mj-lt" pitchFamily="34" charset="-122"/>
                <a:cs typeface="+mj-lt" pitchFamily="34" charset="-120"/>
              </a:rPr>
              <a:t>→</a:t>
            </a:r>
            <a:endParaRPr lang="en-US" sz="1800" dirty="0"/>
          </a:p>
        </p:txBody>
      </p:sp>
      <p:sp>
        <p:nvSpPr>
          <p:cNvPr id="13" name="Text 11"/>
          <p:cNvSpPr txBox="1"/>
          <p:nvPr/>
        </p:nvSpPr>
        <p:spPr>
          <a:xfrm>
            <a:off x="1463040" y="4480560"/>
            <a:ext cx="9966960" cy="548640"/>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Use an internal package registry to fetch dependencies</a:t>
            </a:r>
            <a:endParaRPr lang="en-US" sz="2000" dirty="0"/>
          </a:p>
        </p:txBody>
      </p:sp>
      <p:sp>
        <p:nvSpPr>
          <p:cNvPr id="14" name="Shape 12"/>
          <p:cNvSpPr/>
          <p:nvPr/>
        </p:nvSpPr>
        <p:spPr>
          <a:xfrm>
            <a:off x="822960" y="5257800"/>
            <a:ext cx="10607040" cy="1051560"/>
          </a:xfrm>
          <a:prstGeom prst="roundRect">
            <a:avLst>
              <a:gd name="adj" fmla="val 12174"/>
            </a:avLst>
          </a:prstGeom>
          <a:solidFill>
            <a:schemeClr val="accent1"/>
          </a:solidFill>
          <a:ln/>
        </p:spPr>
      </p:sp>
      <p:sp>
        <p:nvSpPr>
          <p:cNvPr id="15" name="Text 13"/>
          <p:cNvSpPr txBox="1"/>
          <p:nvPr/>
        </p:nvSpPr>
        <p:spPr>
          <a:xfrm>
            <a:off x="1143000" y="5257800"/>
            <a:ext cx="9966960" cy="1051560"/>
          </a:xfrm>
          <a:prstGeom prst="rect">
            <a:avLst/>
          </a:prstGeom>
          <a:noFill/>
          <a:ln/>
        </p:spPr>
        <p:txBody>
          <a:bodyPr wrap="square" lIns="0" tIns="0" rIns="0" bIns="0" rtlCol="0" anchor="ctr"/>
          <a:lstStyle/>
          <a:p>
            <a:pPr algn="l" indent="0" marL="0">
              <a:buNone/>
            </a:pPr>
            <a:r>
              <a:rPr lang="en-US" sz="2400" dirty="0">
                <a:solidFill>
                  <a:schemeClr val="accent2"/>
                </a:solidFill>
                <a:latin typeface="+mj-lt" pitchFamily="34" charset="0"/>
                <a:ea typeface="+mj-lt" pitchFamily="34" charset="-122"/>
                <a:cs typeface="+mj-lt" pitchFamily="34" charset="-120"/>
              </a:rPr>
              <a:t>Rule #2  </a:t>
            </a:r>
            <a:pPr algn="l" indent="0" marL="0">
              <a:buNone/>
            </a:pPr>
            <a:r>
              <a:rPr lang="en-US" sz="2400" dirty="0">
                <a:solidFill>
                  <a:schemeClr val="bg1"/>
                </a:solidFill>
                <a:latin typeface="+mj-lt" pitchFamily="34" charset="0"/>
                <a:ea typeface="+mj-lt" pitchFamily="34" charset="-122"/>
                <a:cs typeface="+mj-lt" pitchFamily="34" charset="-120"/>
              </a:rPr>
              <a:t>Everything an AI agent produces needs to be reviewed</a:t>
            </a:r>
            <a:endParaRPr lang="en-US" sz="2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Beware the meat proxy</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The bigger the PR, the less likely it’s properly reviewed</a:t>
            </a:r>
            <a:endParaRPr lang="en-US" sz="1800" dirty="0"/>
          </a:p>
        </p:txBody>
      </p:sp>
      <p:pic>
        <p:nvPicPr>
          <p:cNvPr id="4" name="Image 0" descr="Chart: code review scrolling speed rises exponentially with lines of code">    </p:cNvPr>
          <p:cNvPicPr>
            <a:picLocks noChangeAspect="1"/>
          </p:cNvPicPr>
          <p:nvPr/>
        </p:nvPicPr>
        <p:blipFill>
          <a:blip r:embed="rId1"/>
          <a:stretch>
            <a:fillRect/>
          </a:stretch>
        </p:blipFill>
        <p:spPr>
          <a:xfrm>
            <a:off x="822960" y="1874520"/>
            <a:ext cx="3950208" cy="3108960"/>
          </a:xfrm>
          <a:prstGeom prst="rect">
            <a:avLst/>
          </a:prstGeom>
        </p:spPr>
      </p:pic>
      <p:sp>
        <p:nvSpPr>
          <p:cNvPr id="5" name="Text 2"/>
          <p:cNvSpPr txBox="1"/>
          <p:nvPr/>
        </p:nvSpPr>
        <p:spPr>
          <a:xfrm>
            <a:off x="5486400" y="1828800"/>
            <a:ext cx="5943600" cy="3200400"/>
          </a:xfrm>
          <a:prstGeom prst="rect">
            <a:avLst/>
          </a:prstGeom>
          <a:noFill/>
          <a:ln/>
        </p:spPr>
        <p:txBody>
          <a:bodyPr wrap="square" lIns="0" tIns="0" rIns="0" bIns="0" rtlCol="0" anchor="ctr"/>
          <a:lstStyle/>
          <a:p>
            <a:pPr algn="l" indent="0" marL="0">
              <a:spcAft>
                <a:spcPts val="1800"/>
              </a:spcAft>
              <a:buNone/>
            </a:pPr>
            <a:r>
              <a:rPr lang="en-US" sz="2200" dirty="0">
                <a:solidFill>
                  <a:schemeClr val="tx1"/>
                </a:solidFill>
              </a:rPr>
              <a:t>Use AI to speed up the easy work, not to design your architecture.</a:t>
            </a:r>
            <a:endParaRPr lang="en-US" sz="2200" dirty="0"/>
          </a:p>
          <a:p>
            <a:pPr algn="l" indent="0" marL="0">
              <a:spcAft>
                <a:spcPts val="1800"/>
              </a:spcAft>
              <a:buNone/>
            </a:pPr>
            <a:r>
              <a:rPr lang="en-US" sz="2200" dirty="0">
                <a:solidFill>
                  <a:schemeClr val="tx1"/>
                </a:solidFill>
              </a:rPr>
              <a:t>Code that is mostly AI-generated is extremely hard to troubleshoot.</a:t>
            </a:r>
            <a:endParaRPr lang="en-US" sz="2200" dirty="0"/>
          </a:p>
          <a:p>
            <a:pPr algn="l" indent="0" marL="0">
              <a:buNone/>
            </a:pPr>
            <a:r>
              <a:rPr lang="en-US" sz="2200" dirty="0">
                <a:solidFill>
                  <a:schemeClr val="accent1"/>
                </a:solidFill>
                <a:latin typeface="+mj-lt" pitchFamily="34" charset="0"/>
                <a:ea typeface="+mj-lt" pitchFamily="34" charset="-122"/>
                <a:cs typeface="+mj-lt" pitchFamily="34" charset="-120"/>
              </a:rPr>
              <a:t>No idea what the result will look like? Ask yourself: am I still in control?</a:t>
            </a:r>
            <a:endParaRPr lang="en-US" sz="2200" dirty="0"/>
          </a:p>
        </p:txBody>
      </p:sp>
      <p:sp>
        <p:nvSpPr>
          <p:cNvPr id="6" name="Shape 3"/>
          <p:cNvSpPr/>
          <p:nvPr/>
        </p:nvSpPr>
        <p:spPr>
          <a:xfrm>
            <a:off x="822960" y="5257800"/>
            <a:ext cx="10607040" cy="1051560"/>
          </a:xfrm>
          <a:prstGeom prst="roundRect">
            <a:avLst>
              <a:gd name="adj" fmla="val 12174"/>
            </a:avLst>
          </a:prstGeom>
          <a:solidFill>
            <a:schemeClr val="accent1"/>
          </a:solidFill>
          <a:ln/>
        </p:spPr>
      </p:sp>
      <p:sp>
        <p:nvSpPr>
          <p:cNvPr id="7" name="Text 4"/>
          <p:cNvSpPr txBox="1"/>
          <p:nvPr/>
        </p:nvSpPr>
        <p:spPr>
          <a:xfrm>
            <a:off x="1143000" y="5257800"/>
            <a:ext cx="9966960" cy="1051560"/>
          </a:xfrm>
          <a:prstGeom prst="rect">
            <a:avLst/>
          </a:prstGeom>
          <a:noFill/>
          <a:ln/>
        </p:spPr>
        <p:txBody>
          <a:bodyPr wrap="square" lIns="0" tIns="0" rIns="0" bIns="0" rtlCol="0" anchor="ctr"/>
          <a:lstStyle/>
          <a:p>
            <a:pPr algn="l" indent="0" marL="0">
              <a:buNone/>
            </a:pPr>
            <a:r>
              <a:rPr lang="en-US" sz="2400" dirty="0">
                <a:solidFill>
                  <a:schemeClr val="accent2"/>
                </a:solidFill>
                <a:latin typeface="+mj-lt" pitchFamily="34" charset="0"/>
                <a:ea typeface="+mj-lt" pitchFamily="34" charset="-122"/>
                <a:cs typeface="+mj-lt" pitchFamily="34" charset="-120"/>
              </a:rPr>
              <a:t>Rule #3  </a:t>
            </a:r>
            <a:pPr algn="l" indent="0" marL="0">
              <a:buNone/>
            </a:pPr>
            <a:r>
              <a:rPr lang="en-US" sz="2400" dirty="0">
                <a:solidFill>
                  <a:schemeClr val="bg1"/>
                </a:solidFill>
                <a:latin typeface="+mj-lt" pitchFamily="34" charset="0"/>
                <a:ea typeface="+mj-lt" pitchFamily="34" charset="-122"/>
                <a:cs typeface="+mj-lt" pitchFamily="34" charset="-120"/>
              </a:rPr>
              <a:t>Outsource the typing, not the thinking</a:t>
            </a:r>
            <a:endParaRPr lang="en-US" sz="24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607040" cy="3291840"/>
          </a:xfrm>
          <a:prstGeom prst="rect">
            <a:avLst/>
          </a:prstGeom>
          <a:noFill/>
          <a:ln/>
        </p:spPr>
        <p:txBody>
          <a:bodyPr wrap="square" lIns="0" tIns="0" rIns="0" bIns="0" rtlCol="0" anchor="b"/>
          <a:lstStyle/>
          <a:p>
            <a:pPr algn="l" indent="0" marL="0">
              <a:buNone/>
            </a:pPr>
            <a:r>
              <a:rPr lang="en-US" sz="5200" dirty="0">
                <a:solidFill>
                  <a:schemeClr val="bg1"/>
                </a:solidFill>
              </a:rPr>
              <a:t>Demo time: a user with bad intentions</a:t>
            </a:r>
            <a:endParaRPr lang="en-US" sz="5200" dirty="0"/>
          </a:p>
        </p:txBody>
      </p:sp>
      <p:sp>
        <p:nvSpPr>
          <p:cNvPr id="3" name="Text 0"/>
          <p:cNvSpPr/>
          <p:nvPr>
            <p:ph idx="101" type="body" hasCustomPrompt="1"/>
          </p:nvPr>
        </p:nvSpPr>
        <p:spPr>
          <a:xfrm>
            <a:off x="822960" y="4663440"/>
            <a:ext cx="10607040" cy="822960"/>
          </a:xfrm>
          <a:prstGeom prst="rect">
            <a:avLst/>
          </a:prstGeom>
          <a:noFill/>
          <a:ln/>
        </p:spPr>
        <p:txBody>
          <a:bodyPr wrap="square" lIns="0" tIns="0" rIns="0" bIns="0" rtlCol="0" anchor="t"/>
          <a:lstStyle/>
          <a:p>
            <a:pPr algn="l" indent="0" marL="0">
              <a:buNone/>
            </a:pPr>
            <a:r>
              <a:rPr lang="en-US" sz="2600" dirty="0">
                <a:solidFill>
                  <a:schemeClr val="bg1"/>
                </a:solidFill>
              </a:rPr>
              <a:t>And what you can do to protect your chatbots against them</a:t>
            </a:r>
            <a:endParaRPr lang="en-US" sz="26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Demo 1: attacking the system prompt</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Goal: make the assistant reveal its own hidden system prompt</a:t>
            </a:r>
            <a:endParaRPr lang="en-US" sz="1800" dirty="0"/>
          </a:p>
        </p:txBody>
      </p:sp>
      <p:pic>
        <p:nvPicPr>
          <p:cNvPr id="4" name="Image 0" descr="Chatbot screenshot: an attempt to extract the hidden system prompt">    </p:cNvPr>
          <p:cNvPicPr>
            <a:picLocks noChangeAspect="1"/>
          </p:cNvPicPr>
          <p:nvPr/>
        </p:nvPicPr>
        <p:blipFill>
          <a:blip r:embed="rId1"/>
          <a:stretch>
            <a:fillRect/>
          </a:stretch>
        </p:blipFill>
        <p:spPr>
          <a:xfrm>
            <a:off x="6309360" y="1920240"/>
            <a:ext cx="5303520" cy="4206240"/>
          </a:xfrm>
          <a:prstGeom prst="rect">
            <a:avLst/>
          </a:prstGeom>
        </p:spPr>
      </p:pic>
      <p:sp>
        <p:nvSpPr>
          <p:cNvPr id="5" name="Text 2"/>
          <p:cNvSpPr txBox="1"/>
          <p:nvPr/>
        </p:nvSpPr>
        <p:spPr>
          <a:xfrm>
            <a:off x="822960" y="2194560"/>
            <a:ext cx="5120640" cy="3657600"/>
          </a:xfrm>
          <a:prstGeom prst="rect">
            <a:avLst/>
          </a:prstGeom>
          <a:noFill/>
          <a:ln/>
        </p:spPr>
        <p:txBody>
          <a:bodyPr wrap="square" lIns="0" tIns="0" rIns="0" bIns="0" rtlCol="0" anchor="t"/>
          <a:lstStyle/>
          <a:p>
            <a:pPr algn="l" marL="254000" indent="-254000">
              <a:spcAft>
                <a:spcPts val="1800"/>
              </a:spcAft>
              <a:buSzPct val="100000"/>
              <a:buChar char="•"/>
            </a:pPr>
            <a:r>
              <a:rPr lang="en-US" sz="2200" dirty="0">
                <a:solidFill>
                  <a:schemeClr val="tx1"/>
                </a:solidFill>
              </a:rPr>
              <a:t>Protection mechanisms should sit in front of the chatbot, not inside it</a:t>
            </a:r>
            <a:endParaRPr lang="en-US" sz="2200" dirty="0"/>
          </a:p>
          <a:p>
            <a:pPr algn="l" marL="254000" indent="-254000">
              <a:buSzPct val="100000"/>
              <a:buChar char="•"/>
            </a:pPr>
            <a:r>
              <a:rPr lang="en-US" sz="2200" dirty="0">
                <a:solidFill>
                  <a:schemeClr val="tx1"/>
                </a:solidFill>
              </a:rPr>
              <a:t>Don’t rely on one layer of guardrails: defense in depth</a:t>
            </a:r>
            <a:endParaRPr lang="en-US" sz="2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Demo 1: attacking the system prompt</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Each layer checks for a different abuse case</a:t>
            </a:r>
            <a:endParaRPr lang="en-US" sz="1800" dirty="0"/>
          </a:p>
        </p:txBody>
      </p:sp>
      <p:pic>
        <p:nvPicPr>
          <p:cNvPr id="4" name="Image 0" descr="Chatbot screenshot: the attack continues">    </p:cNvPr>
          <p:cNvPicPr>
            <a:picLocks noChangeAspect="1"/>
          </p:cNvPicPr>
          <p:nvPr/>
        </p:nvPicPr>
        <p:blipFill>
          <a:blip r:embed="rId1"/>
          <a:stretch>
            <a:fillRect/>
          </a:stretch>
        </p:blipFill>
        <p:spPr>
          <a:xfrm>
            <a:off x="7763256" y="1874520"/>
            <a:ext cx="3849624" cy="4389120"/>
          </a:xfrm>
          <a:prstGeom prst="rect">
            <a:avLst/>
          </a:prstGeom>
        </p:spPr>
      </p:pic>
      <p:sp>
        <p:nvSpPr>
          <p:cNvPr id="5" name="Text 2"/>
          <p:cNvSpPr txBox="1"/>
          <p:nvPr/>
        </p:nvSpPr>
        <p:spPr>
          <a:xfrm>
            <a:off x="822960" y="2148840"/>
            <a:ext cx="6309360" cy="3931920"/>
          </a:xfrm>
          <a:prstGeom prst="rect">
            <a:avLst/>
          </a:prstGeom>
          <a:noFill/>
          <a:ln/>
        </p:spPr>
        <p:txBody>
          <a:bodyPr wrap="square" lIns="0" tIns="0" rIns="0" bIns="0" rtlCol="0" anchor="t"/>
          <a:lstStyle/>
          <a:p>
            <a:pPr algn="l" marL="254000" indent="-254000">
              <a:spcAft>
                <a:spcPts val="1200"/>
              </a:spcAft>
              <a:buSzPct val="100000"/>
              <a:buChar char="•"/>
            </a:pPr>
            <a:r>
              <a:rPr lang="en-US" sz="2200" dirty="0">
                <a:solidFill>
                  <a:schemeClr val="tx1"/>
                </a:solidFill>
              </a:rPr>
              <a:t>Look for a canary</a:t>
            </a:r>
            <a:endParaRPr lang="en-US" sz="2200" dirty="0"/>
          </a:p>
          <a:p>
            <a:pPr algn="l" marL="254000" indent="-254000">
              <a:spcAft>
                <a:spcPts val="1200"/>
              </a:spcAft>
              <a:buSzPct val="100000"/>
              <a:buChar char="•"/>
            </a:pPr>
            <a:r>
              <a:rPr lang="en-US" sz="2200" dirty="0">
                <a:solidFill>
                  <a:schemeClr val="tx1"/>
                </a:solidFill>
              </a:rPr>
              <a:t>Inputs that refer to the system prompt</a:t>
            </a:r>
            <a:endParaRPr lang="en-US" sz="2200" dirty="0"/>
          </a:p>
          <a:p>
            <a:pPr algn="l" marL="254000" indent="-254000">
              <a:spcAft>
                <a:spcPts val="1200"/>
              </a:spcAft>
              <a:buSzPct val="100000"/>
              <a:buChar char="•"/>
            </a:pPr>
            <a:r>
              <a:rPr lang="en-US" sz="2200" dirty="0">
                <a:solidFill>
                  <a:schemeClr val="tx1"/>
                </a:solidFill>
              </a:rPr>
              <a:t>Outputs that resemble the system prompt</a:t>
            </a:r>
            <a:endParaRPr lang="en-US" sz="2200" dirty="0"/>
          </a:p>
          <a:p>
            <a:pPr algn="l" marL="254000" indent="-254000">
              <a:spcAft>
                <a:spcPts val="1200"/>
              </a:spcAft>
              <a:buSzPct val="100000"/>
              <a:buChar char="•"/>
            </a:pPr>
            <a:r>
              <a:rPr lang="en-US" sz="2200" dirty="0">
                <a:solidFill>
                  <a:schemeClr val="tx1"/>
                </a:solidFill>
              </a:rPr>
              <a:t>Added or modified persona</a:t>
            </a:r>
            <a:endParaRPr lang="en-US" sz="2200" dirty="0"/>
          </a:p>
          <a:p>
            <a:pPr algn="l" marL="254000" indent="-254000">
              <a:spcAft>
                <a:spcPts val="1200"/>
              </a:spcAft>
              <a:buSzPct val="100000"/>
              <a:buChar char="•"/>
            </a:pPr>
            <a:r>
              <a:rPr lang="en-US" sz="2200" dirty="0">
                <a:solidFill>
                  <a:schemeClr val="tx1"/>
                </a:solidFill>
              </a:rPr>
              <a:t>LLM-as-a-judge output guardrail</a:t>
            </a:r>
            <a:endParaRPr lang="en-US" sz="2200" dirty="0"/>
          </a:p>
          <a:p>
            <a:pPr algn="l" marL="254000" indent="-254000">
              <a:buSzPct val="100000"/>
              <a:buChar char="•"/>
            </a:pPr>
            <a:r>
              <a:rPr lang="en-US" sz="2200" dirty="0">
                <a:solidFill>
                  <a:schemeClr val="tx1"/>
                </a:solidFill>
              </a:rPr>
              <a:t>…</a:t>
            </a:r>
            <a:endParaRPr lang="en-US" sz="2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Demo 2: safety refusal bypass</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Goal: get an assistant that refuses a topic to drop the refusal</a:t>
            </a:r>
            <a:endParaRPr lang="en-US" sz="1800" dirty="0"/>
          </a:p>
        </p:txBody>
      </p:sp>
      <p:pic>
        <p:nvPicPr>
          <p:cNvPr id="4" name="Image 0" descr="Chatbot screenshot: a bypass attempt using a pretext">    </p:cNvPr>
          <p:cNvPicPr>
            <a:picLocks noChangeAspect="1"/>
          </p:cNvPicPr>
          <p:nvPr/>
        </p:nvPicPr>
        <p:blipFill>
          <a:blip r:embed="rId1"/>
          <a:stretch>
            <a:fillRect/>
          </a:stretch>
        </p:blipFill>
        <p:spPr>
          <a:xfrm>
            <a:off x="7955280" y="1874520"/>
            <a:ext cx="3657600" cy="4389120"/>
          </a:xfrm>
          <a:prstGeom prst="rect">
            <a:avLst/>
          </a:prstGeom>
        </p:spPr>
      </p:pic>
      <p:sp>
        <p:nvSpPr>
          <p:cNvPr id="5" name="Text 2"/>
          <p:cNvSpPr txBox="1"/>
          <p:nvPr/>
        </p:nvSpPr>
        <p:spPr>
          <a:xfrm>
            <a:off x="822960" y="2194560"/>
            <a:ext cx="6035040" cy="3931920"/>
          </a:xfrm>
          <a:prstGeom prst="rect">
            <a:avLst/>
          </a:prstGeom>
          <a:noFill/>
          <a:ln/>
        </p:spPr>
        <p:txBody>
          <a:bodyPr wrap="square" lIns="0" tIns="0" rIns="0" bIns="0" rtlCol="0" anchor="t"/>
          <a:lstStyle/>
          <a:p>
            <a:pPr algn="l" marL="254000" indent="-254000">
              <a:spcAft>
                <a:spcPts val="1800"/>
              </a:spcAft>
              <a:buSzPct val="100000"/>
              <a:buChar char="•"/>
            </a:pPr>
            <a:r>
              <a:rPr lang="en-US" sz="2200" dirty="0">
                <a:solidFill>
                  <a:schemeClr val="tx1"/>
                </a:solidFill>
              </a:rPr>
              <a:t>The assistant was told to always refuse requests about building explosives</a:t>
            </a:r>
            <a:endParaRPr lang="en-US" sz="2200" dirty="0"/>
          </a:p>
          <a:p>
            <a:pPr algn="l" marL="254000" indent="-254000">
              <a:buSzPct val="100000"/>
              <a:buChar char="•"/>
            </a:pPr>
            <a:r>
              <a:rPr lang="en-US" sz="2200" dirty="0">
                <a:solidFill>
                  <a:schemeClr val="tx1"/>
                </a:solidFill>
              </a:rPr>
              <a:t>The server truncates non-refusal replies on purpose: we demonstrate the bypass, not the content</a:t>
            </a:r>
            <a:endParaRPr lang="en-US" sz="2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685800"/>
          </a:xfrm>
          <a:prstGeom prst="rect">
            <a:avLst/>
          </a:prstGeom>
          <a:noFill/>
          <a:ln/>
        </p:spPr>
        <p:txBody>
          <a:bodyPr wrap="square" lIns="0" tIns="0" rIns="0" bIns="0" rtlCol="0" anchor="t"/>
          <a:lstStyle/>
          <a:p>
            <a:pPr algn="l" indent="0" marL="0">
              <a:buNone/>
            </a:pPr>
            <a:r>
              <a:rPr lang="en-US" sz="3600" dirty="0">
                <a:solidFill>
                  <a:schemeClr val="tx1"/>
                </a:solidFill>
              </a:rPr>
              <a:t>Demo 2: safety refusal bypass</a:t>
            </a:r>
            <a:endParaRPr lang="en-US" sz="3600" dirty="0"/>
          </a:p>
        </p:txBody>
      </p:sp>
      <p:sp>
        <p:nvSpPr>
          <p:cNvPr id="3" name="Text 2"/>
          <p:cNvSpPr/>
          <p:nvPr>
            <p:ph idx="103" type="body" hasCustomPrompt="1"/>
          </p:nvPr>
        </p:nvSpPr>
        <p:spPr>
          <a:xfrm>
            <a:off x="1097280" y="1024128"/>
            <a:ext cx="10607040" cy="457200"/>
          </a:xfrm>
          <a:prstGeom prst="rect">
            <a:avLst/>
          </a:prstGeom>
          <a:noFill/>
          <a:ln/>
        </p:spPr>
        <p:txBody>
          <a:bodyPr wrap="square" lIns="0" tIns="0" rIns="0" bIns="0" rtlCol="0" anchor="t"/>
          <a:lstStyle/>
          <a:p>
            <a:pPr algn="l" indent="0" marL="0">
              <a:buNone/>
            </a:pPr>
            <a:r>
              <a:rPr lang="en-US" sz="1800" dirty="0">
                <a:solidFill>
                  <a:schemeClr val="accent1"/>
                </a:solidFill>
              </a:rPr>
              <a:t>The same conversation, a few turns later</a:t>
            </a:r>
            <a:endParaRPr lang="en-US" sz="1800" dirty="0"/>
          </a:p>
        </p:txBody>
      </p:sp>
      <p:pic>
        <p:nvPicPr>
          <p:cNvPr id="4" name="Image 0" descr="Chatbot screenshot: the conversation continues">    </p:cNvPr>
          <p:cNvPicPr>
            <a:picLocks noChangeAspect="1"/>
          </p:cNvPicPr>
          <p:nvPr/>
        </p:nvPicPr>
        <p:blipFill>
          <a:blip r:embed="rId1"/>
          <a:stretch>
            <a:fillRect/>
          </a:stretch>
        </p:blipFill>
        <p:spPr>
          <a:xfrm>
            <a:off x="8485632" y="1874520"/>
            <a:ext cx="3127248" cy="4389120"/>
          </a:xfrm>
          <a:prstGeom prst="rect">
            <a:avLst/>
          </a:prstGeom>
        </p:spPr>
      </p:pic>
      <p:sp>
        <p:nvSpPr>
          <p:cNvPr id="5" name="Text 2"/>
          <p:cNvSpPr txBox="1"/>
          <p:nvPr/>
        </p:nvSpPr>
        <p:spPr>
          <a:xfrm>
            <a:off x="822960" y="2194560"/>
            <a:ext cx="6309360" cy="3931920"/>
          </a:xfrm>
          <a:prstGeom prst="rect">
            <a:avLst/>
          </a:prstGeom>
          <a:noFill/>
          <a:ln/>
        </p:spPr>
        <p:txBody>
          <a:bodyPr wrap="square" lIns="0" tIns="0" rIns="0" bIns="0" rtlCol="0" anchor="t"/>
          <a:lstStyle/>
          <a:p>
            <a:pPr algn="l" marL="254000" indent="-254000">
              <a:spcAft>
                <a:spcPts val="1800"/>
              </a:spcAft>
              <a:buSzPct val="100000"/>
              <a:buChar char="•"/>
            </a:pPr>
            <a:r>
              <a:rPr lang="en-US" sz="2200" dirty="0">
                <a:solidFill>
                  <a:schemeClr val="tx1"/>
                </a:solidFill>
              </a:rPr>
              <a:t>Each message looks harmless on its own</a:t>
            </a:r>
            <a:endParaRPr lang="en-US" sz="2200" dirty="0"/>
          </a:p>
          <a:p>
            <a:pPr algn="l" marL="254000" indent="-254000">
              <a:buSzPct val="100000"/>
              <a:buChar char="•"/>
            </a:pPr>
            <a:r>
              <a:rPr lang="en-US" sz="2200" dirty="0">
                <a:solidFill>
                  <a:schemeClr val="tx1"/>
                </a:solidFill>
              </a:rPr>
              <a:t>Defense in depth: guardrails on both input and output, plus a human handover</a:t>
            </a:r>
            <a:endParaRPr lang="en-US" sz="22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title" hasCustomPrompt="1"/>
          </p:nvPr>
        </p:nvSpPr>
        <p:spPr>
          <a:xfrm>
            <a:off x="1097280" y="365760"/>
            <a:ext cx="10607040" cy="1051560"/>
          </a:xfrm>
          <a:prstGeom prst="rect">
            <a:avLst/>
          </a:prstGeom>
          <a:noFill/>
          <a:ln/>
        </p:spPr>
        <p:txBody>
          <a:bodyPr wrap="square" lIns="0" tIns="0" rIns="0" bIns="0" rtlCol="0" anchor="t"/>
          <a:lstStyle/>
          <a:p>
            <a:pPr algn="l" indent="0" marL="0">
              <a:buNone/>
            </a:pPr>
            <a:r>
              <a:rPr lang="en-US" sz="3600" dirty="0">
                <a:solidFill>
                  <a:schemeClr val="tx1"/>
                </a:solidFill>
              </a:rPr>
              <a:t>Key takeaways</a:t>
            </a:r>
            <a:endParaRPr lang="en-US" sz="3600" dirty="0"/>
          </a:p>
        </p:txBody>
      </p:sp>
      <p:sp>
        <p:nvSpPr>
          <p:cNvPr id="3" name="Text 1"/>
          <p:cNvSpPr/>
          <p:nvPr/>
        </p:nvSpPr>
        <p:spPr>
          <a:xfrm>
            <a:off x="822960" y="1600200"/>
            <a:ext cx="777240" cy="7772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800" dirty="0">
                <a:solidFill>
                  <a:schemeClr val="bg1"/>
                </a:solidFill>
                <a:latin typeface="+mj-lt" pitchFamily="34" charset="0"/>
                <a:ea typeface="+mj-lt" pitchFamily="34" charset="-122"/>
                <a:cs typeface="+mj-lt" pitchFamily="34" charset="-120"/>
              </a:rPr>
              <a:t>1</a:t>
            </a:r>
            <a:endParaRPr lang="en-US" sz="2800" dirty="0"/>
          </a:p>
        </p:txBody>
      </p:sp>
      <p:sp>
        <p:nvSpPr>
          <p:cNvPr id="4" name="Text 2"/>
          <p:cNvSpPr txBox="1"/>
          <p:nvPr/>
        </p:nvSpPr>
        <p:spPr>
          <a:xfrm>
            <a:off x="1920240" y="1554480"/>
            <a:ext cx="9601200" cy="457200"/>
          </a:xfrm>
          <a:prstGeom prst="rect">
            <a:avLst/>
          </a:prstGeom>
          <a:noFill/>
          <a:ln/>
        </p:spPr>
        <p:txBody>
          <a:bodyPr wrap="square" lIns="0" tIns="0" rIns="0" bIns="0" rtlCol="0" anchor="ctr"/>
          <a:lstStyle/>
          <a:p>
            <a:pPr algn="l" indent="0" marL="0">
              <a:buNone/>
            </a:pPr>
            <a:r>
              <a:rPr lang="en-US" sz="2400" dirty="0">
                <a:solidFill>
                  <a:schemeClr val="accent1"/>
                </a:solidFill>
                <a:latin typeface="+mj-lt" pitchFamily="34" charset="0"/>
                <a:ea typeface="+mj-lt" pitchFamily="34" charset="-122"/>
                <a:cs typeface="+mj-lt" pitchFamily="34" charset="-120"/>
              </a:rPr>
              <a:t>Agentic AI is a systems-engineering problem</a:t>
            </a:r>
            <a:endParaRPr lang="en-US" sz="2400" dirty="0"/>
          </a:p>
        </p:txBody>
      </p:sp>
      <p:sp>
        <p:nvSpPr>
          <p:cNvPr id="5" name="Text 3"/>
          <p:cNvSpPr txBox="1"/>
          <p:nvPr/>
        </p:nvSpPr>
        <p:spPr>
          <a:xfrm>
            <a:off x="1920240" y="2011680"/>
            <a:ext cx="9601200" cy="457200"/>
          </a:xfrm>
          <a:prstGeom prst="rect">
            <a:avLst/>
          </a:prstGeom>
          <a:noFill/>
          <a:ln/>
        </p:spPr>
        <p:txBody>
          <a:bodyPr wrap="square" lIns="0" tIns="0" rIns="0" bIns="0" rtlCol="0" anchor="t"/>
          <a:lstStyle/>
          <a:p>
            <a:pPr algn="l" indent="0" marL="0">
              <a:buNone/>
            </a:pPr>
            <a:r>
              <a:rPr lang="en-US" sz="1800" dirty="0">
                <a:solidFill>
                  <a:schemeClr val="tx1"/>
                </a:solidFill>
              </a:rPr>
              <a:t>The model is only one component</a:t>
            </a:r>
            <a:endParaRPr lang="en-US" sz="1800" dirty="0"/>
          </a:p>
        </p:txBody>
      </p:sp>
      <p:sp>
        <p:nvSpPr>
          <p:cNvPr id="6" name="Text 4"/>
          <p:cNvSpPr/>
          <p:nvPr/>
        </p:nvSpPr>
        <p:spPr>
          <a:xfrm>
            <a:off x="822960" y="2770632"/>
            <a:ext cx="777240" cy="7772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800" dirty="0">
                <a:solidFill>
                  <a:schemeClr val="bg1"/>
                </a:solidFill>
                <a:latin typeface="+mj-lt" pitchFamily="34" charset="0"/>
                <a:ea typeface="+mj-lt" pitchFamily="34" charset="-122"/>
                <a:cs typeface="+mj-lt" pitchFamily="34" charset="-120"/>
              </a:rPr>
              <a:t>2</a:t>
            </a:r>
            <a:endParaRPr lang="en-US" sz="2800" dirty="0"/>
          </a:p>
        </p:txBody>
      </p:sp>
      <p:sp>
        <p:nvSpPr>
          <p:cNvPr id="7" name="Text 5"/>
          <p:cNvSpPr txBox="1"/>
          <p:nvPr/>
        </p:nvSpPr>
        <p:spPr>
          <a:xfrm>
            <a:off x="1920240" y="2724912"/>
            <a:ext cx="9601200" cy="457200"/>
          </a:xfrm>
          <a:prstGeom prst="rect">
            <a:avLst/>
          </a:prstGeom>
          <a:noFill/>
          <a:ln/>
        </p:spPr>
        <p:txBody>
          <a:bodyPr wrap="square" lIns="0" tIns="0" rIns="0" bIns="0" rtlCol="0" anchor="ctr"/>
          <a:lstStyle/>
          <a:p>
            <a:pPr algn="l" indent="0" marL="0">
              <a:buNone/>
            </a:pPr>
            <a:r>
              <a:rPr lang="en-US" sz="2400" dirty="0">
                <a:solidFill>
                  <a:schemeClr val="accent1"/>
                </a:solidFill>
                <a:latin typeface="+mj-lt" pitchFamily="34" charset="0"/>
                <a:ea typeface="+mj-lt" pitchFamily="34" charset="-122"/>
                <a:cs typeface="+mj-lt" pitchFamily="34" charset="-120"/>
              </a:rPr>
              <a:t>Intelligence needs a harness</a:t>
            </a:r>
            <a:endParaRPr lang="en-US" sz="2400" dirty="0"/>
          </a:p>
        </p:txBody>
      </p:sp>
      <p:sp>
        <p:nvSpPr>
          <p:cNvPr id="8" name="Text 6"/>
          <p:cNvSpPr txBox="1"/>
          <p:nvPr/>
        </p:nvSpPr>
        <p:spPr>
          <a:xfrm>
            <a:off x="1920240" y="3182112"/>
            <a:ext cx="9601200" cy="457200"/>
          </a:xfrm>
          <a:prstGeom prst="rect">
            <a:avLst/>
          </a:prstGeom>
          <a:noFill/>
          <a:ln/>
        </p:spPr>
        <p:txBody>
          <a:bodyPr wrap="square" lIns="0" tIns="0" rIns="0" bIns="0" rtlCol="0" anchor="t"/>
          <a:lstStyle/>
          <a:p>
            <a:pPr algn="l" indent="0" marL="0">
              <a:buNone/>
            </a:pPr>
            <a:r>
              <a:rPr lang="en-US" sz="1800" dirty="0">
                <a:solidFill>
                  <a:schemeClr val="tx1"/>
                </a:solidFill>
              </a:rPr>
              <a:t>Context, safety, orchestration and experience matter as much as reasoning</a:t>
            </a:r>
            <a:endParaRPr lang="en-US" sz="1800" dirty="0"/>
          </a:p>
        </p:txBody>
      </p:sp>
      <p:sp>
        <p:nvSpPr>
          <p:cNvPr id="9" name="Text 7"/>
          <p:cNvSpPr/>
          <p:nvPr/>
        </p:nvSpPr>
        <p:spPr>
          <a:xfrm>
            <a:off x="822960" y="3941064"/>
            <a:ext cx="777240" cy="7772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800" dirty="0">
                <a:solidFill>
                  <a:schemeClr val="bg1"/>
                </a:solidFill>
                <a:latin typeface="+mj-lt" pitchFamily="34" charset="0"/>
                <a:ea typeface="+mj-lt" pitchFamily="34" charset="-122"/>
                <a:cs typeface="+mj-lt" pitchFamily="34" charset="-120"/>
              </a:rPr>
              <a:t>3</a:t>
            </a:r>
            <a:endParaRPr lang="en-US" sz="2800" dirty="0"/>
          </a:p>
        </p:txBody>
      </p:sp>
      <p:sp>
        <p:nvSpPr>
          <p:cNvPr id="10" name="Text 8"/>
          <p:cNvSpPr txBox="1"/>
          <p:nvPr/>
        </p:nvSpPr>
        <p:spPr>
          <a:xfrm>
            <a:off x="1920240" y="3895344"/>
            <a:ext cx="9601200" cy="457200"/>
          </a:xfrm>
          <a:prstGeom prst="rect">
            <a:avLst/>
          </a:prstGeom>
          <a:noFill/>
          <a:ln/>
        </p:spPr>
        <p:txBody>
          <a:bodyPr wrap="square" lIns="0" tIns="0" rIns="0" bIns="0" rtlCol="0" anchor="ctr"/>
          <a:lstStyle/>
          <a:p>
            <a:pPr algn="l" indent="0" marL="0">
              <a:buNone/>
            </a:pPr>
            <a:r>
              <a:rPr lang="en-US" sz="2400" dirty="0">
                <a:solidFill>
                  <a:schemeClr val="accent1"/>
                </a:solidFill>
                <a:latin typeface="+mj-lt" pitchFamily="34" charset="0"/>
                <a:ea typeface="+mj-lt" pitchFamily="34" charset="-122"/>
                <a:cs typeface="+mj-lt" pitchFamily="34" charset="-120"/>
              </a:rPr>
              <a:t>Production is the beginning, not the end</a:t>
            </a:r>
            <a:endParaRPr lang="en-US" sz="2400" dirty="0"/>
          </a:p>
        </p:txBody>
      </p:sp>
      <p:sp>
        <p:nvSpPr>
          <p:cNvPr id="11" name="Text 9"/>
          <p:cNvSpPr txBox="1"/>
          <p:nvPr/>
        </p:nvSpPr>
        <p:spPr>
          <a:xfrm>
            <a:off x="1920240" y="4352544"/>
            <a:ext cx="9601200" cy="457200"/>
          </a:xfrm>
          <a:prstGeom prst="rect">
            <a:avLst/>
          </a:prstGeom>
          <a:noFill/>
          <a:ln/>
        </p:spPr>
        <p:txBody>
          <a:bodyPr wrap="square" lIns="0" tIns="0" rIns="0" bIns="0" rtlCol="0" anchor="t"/>
          <a:lstStyle/>
          <a:p>
            <a:pPr algn="l" indent="0" marL="0">
              <a:buNone/>
            </a:pPr>
            <a:r>
              <a:rPr lang="en-US" sz="1800" dirty="0">
                <a:solidFill>
                  <a:schemeClr val="tx1"/>
                </a:solidFill>
              </a:rPr>
              <a:t>Observability, evaluation and continuous improvement are fundamental</a:t>
            </a:r>
            <a:endParaRPr lang="en-US" sz="1800" dirty="0"/>
          </a:p>
        </p:txBody>
      </p:sp>
      <p:sp>
        <p:nvSpPr>
          <p:cNvPr id="12" name="Text 10"/>
          <p:cNvSpPr/>
          <p:nvPr/>
        </p:nvSpPr>
        <p:spPr>
          <a:xfrm>
            <a:off x="822960" y="5111496"/>
            <a:ext cx="777240" cy="777240"/>
          </a:xfrm>
          <a:prstGeom prst="roundRect">
            <a:avLst>
              <a:gd name="adj" fmla="val 50000"/>
            </a:avLst>
          </a:prstGeom>
          <a:solidFill>
            <a:schemeClr val="accent1"/>
          </a:solidFill>
          <a:ln/>
        </p:spPr>
        <p:txBody>
          <a:bodyPr wrap="square" lIns="73152" tIns="38100" rIns="73152" bIns="38100" rtlCol="0" anchor="ctr"/>
          <a:lstStyle/>
          <a:p>
            <a:pPr algn="ctr" indent="0" marL="0">
              <a:buNone/>
            </a:pPr>
            <a:r>
              <a:rPr lang="en-US" sz="2800" dirty="0">
                <a:solidFill>
                  <a:schemeClr val="bg1"/>
                </a:solidFill>
                <a:latin typeface="+mj-lt" pitchFamily="34" charset="0"/>
                <a:ea typeface="+mj-lt" pitchFamily="34" charset="-122"/>
                <a:cs typeface="+mj-lt" pitchFamily="34" charset="-120"/>
              </a:rPr>
              <a:t>4</a:t>
            </a:r>
            <a:endParaRPr lang="en-US" sz="2800" dirty="0"/>
          </a:p>
        </p:txBody>
      </p:sp>
      <p:sp>
        <p:nvSpPr>
          <p:cNvPr id="13" name="Text 11"/>
          <p:cNvSpPr txBox="1"/>
          <p:nvPr/>
        </p:nvSpPr>
        <p:spPr>
          <a:xfrm>
            <a:off x="1920240" y="5065776"/>
            <a:ext cx="9601200" cy="457200"/>
          </a:xfrm>
          <a:prstGeom prst="rect">
            <a:avLst/>
          </a:prstGeom>
          <a:noFill/>
          <a:ln/>
        </p:spPr>
        <p:txBody>
          <a:bodyPr wrap="square" lIns="0" tIns="0" rIns="0" bIns="0" rtlCol="0" anchor="ctr"/>
          <a:lstStyle/>
          <a:p>
            <a:pPr algn="l" indent="0" marL="0">
              <a:buNone/>
            </a:pPr>
            <a:r>
              <a:rPr lang="en-US" sz="2400" dirty="0">
                <a:solidFill>
                  <a:schemeClr val="accent1"/>
                </a:solidFill>
                <a:latin typeface="+mj-lt" pitchFamily="34" charset="0"/>
                <a:ea typeface="+mj-lt" pitchFamily="34" charset="-122"/>
                <a:cs typeface="+mj-lt" pitchFamily="34" charset="-120"/>
              </a:rPr>
              <a:t>Defend in depth</a:t>
            </a:r>
            <a:endParaRPr lang="en-US" sz="2400" dirty="0"/>
          </a:p>
        </p:txBody>
      </p:sp>
      <p:sp>
        <p:nvSpPr>
          <p:cNvPr id="14" name="Text 12"/>
          <p:cNvSpPr txBox="1"/>
          <p:nvPr/>
        </p:nvSpPr>
        <p:spPr>
          <a:xfrm>
            <a:off x="1920240" y="5522976"/>
            <a:ext cx="9601200" cy="457200"/>
          </a:xfrm>
          <a:prstGeom prst="rect">
            <a:avLst/>
          </a:prstGeom>
          <a:noFill/>
          <a:ln/>
        </p:spPr>
        <p:txBody>
          <a:bodyPr wrap="square" lIns="0" tIns="0" rIns="0" bIns="0" rtlCol="0" anchor="t"/>
          <a:lstStyle/>
          <a:p>
            <a:pPr algn="l" indent="0" marL="0">
              <a:buNone/>
            </a:pPr>
            <a:r>
              <a:rPr lang="en-US" sz="1800" dirty="0">
                <a:solidFill>
                  <a:schemeClr val="tx1"/>
                </a:solidFill>
              </a:rPr>
              <a:t>No single protection blocks everything: every layer makes abuse harder</a:t>
            </a:r>
            <a:endParaRPr lang="en-US" sz="1800" dirty="0"/>
          </a:p>
        </p:txBody>
      </p:sp>
      <p:sp>
        <p:nvSpPr>
          <p:cNvPr id="25" name="Slide Number Placeholder 0"/>
          <p:cNvSpPr>
            <a:spLocks noGrp="1"/>
          </p:cNvSpPr>
          <p:nvPr>
            <p:ph type="sldNum" sz="quarter" idx="4294967295"/>
          </p:nvPr>
        </p:nvSpPr>
        <p:spPr>
          <a:xfrm>
            <a:off x="10972800" y="6382512"/>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4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914400" y="1417320"/>
            <a:ext cx="10362895" cy="1371600"/>
          </a:xfrm>
          <a:prstGeom prst="rect">
            <a:avLst/>
          </a:prstGeom>
          <a:noFill/>
          <a:ln/>
        </p:spPr>
        <p:txBody>
          <a:bodyPr wrap="square" lIns="0" tIns="0" rIns="0" bIns="0" rtlCol="0" anchor="b"/>
          <a:lstStyle/>
          <a:p>
            <a:pPr algn="ctr" indent="0" marL="0">
              <a:buNone/>
            </a:pPr>
            <a:r>
              <a:rPr lang="en-US" sz="6600" dirty="0">
                <a:solidFill>
                  <a:schemeClr val="bg1"/>
                </a:solidFill>
              </a:rPr>
              <a:t>Hey Belfius</a:t>
            </a:r>
            <a:endParaRPr lang="en-US" sz="6600" dirty="0"/>
          </a:p>
        </p:txBody>
      </p:sp>
      <p:sp>
        <p:nvSpPr>
          <p:cNvPr id="3" name="Text 0"/>
          <p:cNvSpPr/>
          <p:nvPr>
            <p:ph idx="102" type="body" hasCustomPrompt="1"/>
          </p:nvPr>
        </p:nvSpPr>
        <p:spPr>
          <a:xfrm>
            <a:off x="914400" y="2880360"/>
            <a:ext cx="10362895" cy="731520"/>
          </a:xfrm>
          <a:prstGeom prst="rect">
            <a:avLst/>
          </a:prstGeom>
          <a:noFill/>
          <a:ln/>
        </p:spPr>
        <p:txBody>
          <a:bodyPr wrap="square" lIns="0" tIns="0" rIns="0" bIns="0" rtlCol="0" anchor="t"/>
          <a:lstStyle/>
          <a:p>
            <a:pPr algn="ctr" indent="0" marL="0">
              <a:buNone/>
            </a:pPr>
            <a:r>
              <a:rPr lang="en-US" sz="2600" dirty="0">
                <a:solidFill>
                  <a:schemeClr val="bg1"/>
                </a:solidFill>
              </a:rPr>
              <a:t>Thank you</a:t>
            </a:r>
            <a:endParaRPr lang="en-US" sz="2600" dirty="0"/>
          </a:p>
        </p:txBody>
      </p:sp>
    </p:spTree>
  </p:cSld>
  <p:clrMapOvr>
    <a:masterClrMapping/>
  </p:clrMapOvr>
</p:sld>
</file>

<file path=ppt/theme/theme1.xml><?xml version="1.0" encoding="utf-8"?>
<a:theme xmlns:a="http://schemas.openxmlformats.org/drawingml/2006/main" name="Hey Belfius">
  <a:themeElements>
    <a:clrScheme name="Hey Belfius">
      <a:dk1>
        <a:srgbClr val="1A1A1A"/>
      </a:dk1>
      <a:lt1>
        <a:srgbClr val="FFFFFF"/>
      </a:lt1>
      <a:dk2>
        <a:srgbClr val="4B616F"/>
      </a:dk2>
      <a:lt2>
        <a:srgbClr val="F1F2F4"/>
      </a:lt2>
      <a:accent1>
        <a:srgbClr val="DC0078"/>
      </a:accent1>
      <a:accent2>
        <a:srgbClr val="FFC5E4"/>
      </a:accent2>
      <a:accent3>
        <a:srgbClr val="C30045"/>
      </a:accent3>
      <a:accent4>
        <a:srgbClr val="FDE9F4"/>
      </a:accent4>
      <a:accent5>
        <a:srgbClr val="DBDFE2"/>
      </a:accent5>
      <a:accent6>
        <a:srgbClr val="5B6470"/>
      </a:accent6>
      <a:hlink>
        <a:srgbClr val="DC0078"/>
      </a:hlink>
      <a:folHlink>
        <a:srgbClr val="4B616F"/>
      </a:folHlink>
    </a:clrScheme>
    <a:fontScheme name="Hey Belfius">
      <a:majorFont>
        <a:latin typeface="Belfius21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lfius21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Belfius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Hey Belfius: architecture, trust and security of an AI assistant</dc:title>
  <dc:subject>Devoxx 2026</dc:subject>
  <dc:creator>PptxGenJS</dc:creator>
  <cp:lastModifiedBy>PptxGenJS</cp:lastModifiedBy>
  <cp:revision>1</cp:revision>
  <dcterms:created xsi:type="dcterms:W3CDTF">2026-10-07T08:49:19Z</dcterms:created>
  <dcterms:modified xsi:type="dcterms:W3CDTF">2026-10-07T08:49:19Z</dcterms:modified>
</cp:coreProperties>
</file>